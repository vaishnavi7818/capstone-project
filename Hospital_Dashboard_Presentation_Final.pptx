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8" r:id="rId5"/>
    <p:sldId id="259" r:id="rId6"/>
    <p:sldId id="260" r:id="rId7"/>
    <p:sldId id="262" r:id="rId8"/>
    <p:sldId id="263" r:id="rId9"/>
    <p:sldId id="264" r:id="rId10"/>
    <p:sldId id="265" r:id="rId11"/>
    <p:sldId id="267" r:id="rId12"/>
    <p:sldId id="270"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3333CC"/>
    <a:srgbClr val="6666FF"/>
    <a:srgbClr val="29C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57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B1D9DE4F-276E-D240-BA2A-23F8FAD88074}" type="datetimeFigureOut">
              <a:rPr lang="en-US" smtClean="0"/>
              <a:t>12/14/2025</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E28A9288-3FF6-F943-B1A5-717B19C81469}" type="slidenum">
              <a:rPr lang="en-US" smtClean="0"/>
              <a:t>‹#›</a:t>
            </a:fld>
            <a:endParaRPr lang="en-US"/>
          </a:p>
        </p:txBody>
      </p:sp>
    </p:spTree>
    <p:extLst>
      <p:ext uri="{BB962C8B-B14F-4D97-AF65-F5344CB8AC3E}">
        <p14:creationId xmlns:p14="http://schemas.microsoft.com/office/powerpoint/2010/main" val="85320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A6E"/>
        </a:solidFill>
        <a:effectLst/>
      </p:bgPr>
    </p:bg>
    <p:spTree>
      <p:nvGrpSpPr>
        <p:cNvPr id="1" name=""/>
        <p:cNvGrpSpPr/>
        <p:nvPr/>
      </p:nvGrpSpPr>
      <p:grpSpPr>
        <a:xfrm>
          <a:off x="0" y="0"/>
          <a:ext cx="0" cy="0"/>
          <a:chOff x="0" y="0"/>
          <a:chExt cx="0" cy="0"/>
        </a:xfrm>
      </p:grpSpPr>
      <p:sp>
        <p:nvSpPr>
          <p:cNvPr id="2" name="Text 0"/>
          <p:cNvSpPr/>
          <p:nvPr/>
        </p:nvSpPr>
        <p:spPr>
          <a:xfrm>
            <a:off x="341812" y="1162050"/>
            <a:ext cx="8460227" cy="914400"/>
          </a:xfrm>
          <a:prstGeom prst="rect">
            <a:avLst/>
          </a:prstGeom>
          <a:noFill/>
          <a:ln/>
        </p:spPr>
        <p:txBody>
          <a:bodyPr wrap="square" lIns="0" tIns="0" rIns="0" bIns="0" rtlCol="0" anchor="t"/>
          <a:lstStyle/>
          <a:p>
            <a:pPr marL="0" indent="0" algn="ctr">
              <a:lnSpc>
                <a:spcPts val="7200"/>
              </a:lnSpc>
              <a:spcAft>
                <a:spcPts val="1500"/>
              </a:spcAft>
              <a:buNone/>
            </a:pPr>
            <a:r>
              <a:rPr lang="en-US" sz="7200" b="1" dirty="0">
                <a:solidFill>
                  <a:srgbClr val="FFFFFF"/>
                </a:solidFill>
                <a:latin typeface="Arial" pitchFamily="34" charset="0"/>
                <a:ea typeface="Arial" pitchFamily="34" charset="-122"/>
                <a:cs typeface="Arial" pitchFamily="34" charset="-120"/>
              </a:rPr>
              <a:t>Hospital Dashboard</a:t>
            </a:r>
            <a:endParaRPr lang="en-US" sz="7200" dirty="0"/>
          </a:p>
        </p:txBody>
      </p:sp>
      <p:sp>
        <p:nvSpPr>
          <p:cNvPr id="3" name="Text 1"/>
          <p:cNvSpPr/>
          <p:nvPr/>
        </p:nvSpPr>
        <p:spPr>
          <a:xfrm>
            <a:off x="2361574" y="3036661"/>
            <a:ext cx="4420553" cy="409121"/>
          </a:xfrm>
          <a:prstGeom prst="rect">
            <a:avLst/>
          </a:prstGeom>
          <a:noFill/>
          <a:ln/>
        </p:spPr>
        <p:txBody>
          <a:bodyPr wrap="square" lIns="0" tIns="0" rIns="0" bIns="0" rtlCol="0" anchor="t"/>
          <a:lstStyle/>
          <a:p>
            <a:pPr marL="0" indent="0" algn="ctr">
              <a:lnSpc>
                <a:spcPts val="3000"/>
              </a:lnSpc>
              <a:spcAft>
                <a:spcPts val="2400"/>
              </a:spcAft>
              <a:buNone/>
            </a:pPr>
            <a:r>
              <a:rPr lang="en-US" sz="2700" b="1" dirty="0">
                <a:solidFill>
                  <a:srgbClr val="FFFFFF"/>
                </a:solidFill>
                <a:latin typeface="Arial" pitchFamily="34" charset="0"/>
                <a:ea typeface="Arial" pitchFamily="34" charset="-122"/>
                <a:cs typeface="Arial" pitchFamily="34" charset="-120"/>
              </a:rPr>
              <a:t>Power BI Analytics Project</a:t>
            </a:r>
            <a:endParaRPr lang="en-US" sz="2700" dirty="0"/>
          </a:p>
        </p:txBody>
      </p:sp>
      <p:sp>
        <p:nvSpPr>
          <p:cNvPr id="4" name="Text 2"/>
          <p:cNvSpPr/>
          <p:nvPr/>
        </p:nvSpPr>
        <p:spPr>
          <a:xfrm>
            <a:off x="3619351" y="2952750"/>
            <a:ext cx="1905000" cy="38100"/>
          </a:xfrm>
          <a:prstGeom prst="rect">
            <a:avLst/>
          </a:prstGeom>
          <a:solidFill>
            <a:srgbClr val="0891B2"/>
          </a:solidFill>
          <a:ln/>
        </p:spPr>
        <p:txBody>
          <a:bodyPr wrap="square" rtlCol="0" anchor="ctr"/>
          <a:lstStyle/>
          <a:p>
            <a:pPr marL="0" indent="0">
              <a:buNone/>
            </a:pPr>
            <a:endParaRPr lang="en-US" dirty="0"/>
          </a:p>
        </p:txBody>
      </p:sp>
      <p:sp>
        <p:nvSpPr>
          <p:cNvPr id="5" name="Text 3"/>
          <p:cNvSpPr/>
          <p:nvPr/>
        </p:nvSpPr>
        <p:spPr>
          <a:xfrm>
            <a:off x="341812" y="3371850"/>
            <a:ext cx="8460227" cy="266700"/>
          </a:xfrm>
          <a:prstGeom prst="rect">
            <a:avLst/>
          </a:prstGeom>
          <a:noFill/>
          <a:ln/>
        </p:spPr>
        <p:txBody>
          <a:bodyPr wrap="square" lIns="0" tIns="0" rIns="0" bIns="0" rtlCol="0" anchor="t"/>
          <a:lstStyle/>
          <a:p>
            <a:pPr marL="0" indent="0" algn="ctr">
              <a:lnSpc>
                <a:spcPts val="2100"/>
              </a:lnSpc>
              <a:spcAft>
                <a:spcPts val="600"/>
              </a:spcAft>
              <a:buNone/>
            </a:pPr>
            <a:r>
              <a:rPr lang="en-US" sz="1500" dirty="0">
                <a:solidFill>
                  <a:srgbClr val="FFFFFF"/>
                </a:solidFill>
                <a:latin typeface="Arial" pitchFamily="34" charset="0"/>
                <a:ea typeface="Arial" pitchFamily="34" charset="-122"/>
                <a:cs typeface="Arial" pitchFamily="34" charset="-120"/>
              </a:rPr>
              <a:t>Advanced Business Intelligence | Data Modeling | DAX</a:t>
            </a:r>
            <a:endParaRPr lang="en-US" sz="1500" dirty="0"/>
          </a:p>
        </p:txBody>
      </p:sp>
      <p:sp>
        <p:nvSpPr>
          <p:cNvPr id="6" name="Text 4"/>
          <p:cNvSpPr/>
          <p:nvPr/>
        </p:nvSpPr>
        <p:spPr>
          <a:xfrm>
            <a:off x="341812" y="3714750"/>
            <a:ext cx="8460227" cy="266700"/>
          </a:xfrm>
          <a:prstGeom prst="rect">
            <a:avLst/>
          </a:prstGeom>
          <a:noFill/>
          <a:ln/>
        </p:spPr>
        <p:txBody>
          <a:bodyPr wrap="square" lIns="0" tIns="0" rIns="0" bIns="0" rtlCol="0" anchor="t"/>
          <a:lstStyle/>
          <a:p>
            <a:pPr marL="0" indent="0" algn="ctr">
              <a:lnSpc>
                <a:spcPts val="2100"/>
              </a:lnSpc>
              <a:buNone/>
            </a:pPr>
            <a:r>
              <a:rPr lang="en-US" sz="1350" dirty="0">
                <a:solidFill>
                  <a:srgbClr val="FFFFFF"/>
                </a:solidFill>
                <a:latin typeface="Arial" pitchFamily="34" charset="0"/>
                <a:ea typeface="Arial" pitchFamily="34" charset="-122"/>
                <a:cs typeface="Arial" pitchFamily="34" charset="-120"/>
              </a:rPr>
              <a:t>Team Project for Hero Vired</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4439984"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Project Overview</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942975"/>
            <a:ext cx="4267200" cy="1104900"/>
          </a:xfrm>
          <a:prstGeom prst="roundRect">
            <a:avLst>
              <a:gd name="adj" fmla="val 5517"/>
            </a:avLst>
          </a:prstGeom>
          <a:solidFill>
            <a:srgbClr val="0C4A6E"/>
          </a:solidFill>
          <a:ln/>
        </p:spPr>
        <p:txBody>
          <a:bodyPr wrap="square" rtlCol="0" anchor="ctr"/>
          <a:lstStyle/>
          <a:p>
            <a:pPr marL="0" indent="0">
              <a:buNone/>
            </a:pPr>
            <a:endParaRPr lang="en-US" dirty="0"/>
          </a:p>
        </p:txBody>
      </p:sp>
      <p:sp>
        <p:nvSpPr>
          <p:cNvPr id="5" name="Text 3"/>
          <p:cNvSpPr/>
          <p:nvPr/>
        </p:nvSpPr>
        <p:spPr>
          <a:xfrm>
            <a:off x="419100" y="1133475"/>
            <a:ext cx="3963924" cy="266700"/>
          </a:xfrm>
          <a:prstGeom prst="rect">
            <a:avLst/>
          </a:prstGeom>
          <a:noFill/>
          <a:ln/>
        </p:spPr>
        <p:txBody>
          <a:bodyPr wrap="square" lIns="0" tIns="0" rIns="0" bIns="0" rtlCol="0" anchor="t"/>
          <a:lstStyle/>
          <a:p>
            <a:pPr marL="0" indent="0" algn="l">
              <a:lnSpc>
                <a:spcPts val="2100"/>
              </a:lnSpc>
              <a:spcAft>
                <a:spcPts val="600"/>
              </a:spcAft>
              <a:buNone/>
            </a:pPr>
            <a:r>
              <a:rPr lang="en-US" sz="1500" b="1" dirty="0">
                <a:solidFill>
                  <a:srgbClr val="FFFFFF"/>
                </a:solidFill>
                <a:latin typeface="Arial" pitchFamily="34" charset="0"/>
                <a:ea typeface="Arial" pitchFamily="34" charset="-122"/>
                <a:cs typeface="Arial" pitchFamily="34" charset="-120"/>
              </a:rPr>
              <a:t>Goal</a:t>
            </a:r>
            <a:endParaRPr lang="en-US" sz="1500" dirty="0"/>
          </a:p>
        </p:txBody>
      </p:sp>
      <p:sp>
        <p:nvSpPr>
          <p:cNvPr id="6" name="Text 4"/>
          <p:cNvSpPr/>
          <p:nvPr/>
        </p:nvSpPr>
        <p:spPr>
          <a:xfrm>
            <a:off x="419100" y="1476375"/>
            <a:ext cx="3963924" cy="381000"/>
          </a:xfrm>
          <a:prstGeom prst="rect">
            <a:avLst/>
          </a:prstGeom>
          <a:noFill/>
          <a:ln/>
        </p:spPr>
        <p:txBody>
          <a:bodyPr wrap="square" lIns="0" tIns="0" rIns="0" bIns="0" rtlCol="0" anchor="t"/>
          <a:lstStyle/>
          <a:p>
            <a:pPr marL="0" indent="0" algn="l">
              <a:lnSpc>
                <a:spcPts val="1500"/>
              </a:lnSpc>
              <a:buNone/>
            </a:pPr>
            <a:r>
              <a:rPr lang="en-US" sz="1050" dirty="0">
                <a:solidFill>
                  <a:srgbClr val="FFFFFF"/>
                </a:solidFill>
                <a:latin typeface="Arial" pitchFamily="34" charset="0"/>
                <a:ea typeface="Arial" pitchFamily="34" charset="-122"/>
                <a:cs typeface="Arial" pitchFamily="34" charset="-120"/>
              </a:rPr>
              <a:t>Interactive Power BI dashboard for hospital performance analysis with scenario modeling capabilities</a:t>
            </a:r>
            <a:endParaRPr lang="en-US" sz="1050" dirty="0"/>
          </a:p>
        </p:txBody>
      </p:sp>
      <p:sp>
        <p:nvSpPr>
          <p:cNvPr id="7" name="Text 5"/>
          <p:cNvSpPr/>
          <p:nvPr/>
        </p:nvSpPr>
        <p:spPr>
          <a:xfrm>
            <a:off x="4648200" y="1038225"/>
            <a:ext cx="4267200" cy="914400"/>
          </a:xfrm>
          <a:prstGeom prst="roundRect">
            <a:avLst>
              <a:gd name="adj" fmla="val 6667"/>
            </a:avLst>
          </a:prstGeom>
          <a:solidFill>
            <a:srgbClr val="0891B2"/>
          </a:solidFill>
          <a:ln/>
        </p:spPr>
        <p:txBody>
          <a:bodyPr wrap="square" rtlCol="0" anchor="ctr"/>
          <a:lstStyle/>
          <a:p>
            <a:pPr marL="0" indent="0">
              <a:buNone/>
            </a:pPr>
            <a:endParaRPr lang="en-US" dirty="0"/>
          </a:p>
        </p:txBody>
      </p:sp>
      <p:sp>
        <p:nvSpPr>
          <p:cNvPr id="8" name="Text 6"/>
          <p:cNvSpPr/>
          <p:nvPr/>
        </p:nvSpPr>
        <p:spPr>
          <a:xfrm>
            <a:off x="4838700" y="1228725"/>
            <a:ext cx="3963924" cy="266700"/>
          </a:xfrm>
          <a:prstGeom prst="rect">
            <a:avLst/>
          </a:prstGeom>
          <a:noFill/>
          <a:ln/>
        </p:spPr>
        <p:txBody>
          <a:bodyPr wrap="square" lIns="0" tIns="0" rIns="0" bIns="0" rtlCol="0" anchor="t"/>
          <a:lstStyle/>
          <a:p>
            <a:pPr marL="0" indent="0" algn="l">
              <a:lnSpc>
                <a:spcPts val="2100"/>
              </a:lnSpc>
              <a:spcAft>
                <a:spcPts val="600"/>
              </a:spcAft>
              <a:buNone/>
            </a:pPr>
            <a:r>
              <a:rPr lang="en-US" sz="1500" b="1" dirty="0">
                <a:solidFill>
                  <a:srgbClr val="FFFFFF"/>
                </a:solidFill>
                <a:latin typeface="Arial" pitchFamily="34" charset="0"/>
                <a:ea typeface="Arial" pitchFamily="34" charset="-122"/>
                <a:cs typeface="Arial" pitchFamily="34" charset="-120"/>
              </a:rPr>
              <a:t>Target Users</a:t>
            </a:r>
            <a:endParaRPr lang="en-US" sz="1500" dirty="0"/>
          </a:p>
        </p:txBody>
      </p:sp>
      <p:sp>
        <p:nvSpPr>
          <p:cNvPr id="9" name="Text 7"/>
          <p:cNvSpPr/>
          <p:nvPr/>
        </p:nvSpPr>
        <p:spPr>
          <a:xfrm>
            <a:off x="4838700" y="1571625"/>
            <a:ext cx="3963924" cy="190500"/>
          </a:xfrm>
          <a:prstGeom prst="rect">
            <a:avLst/>
          </a:prstGeom>
          <a:noFill/>
          <a:ln/>
        </p:spPr>
        <p:txBody>
          <a:bodyPr wrap="square" lIns="0" tIns="0" rIns="0" bIns="0" rtlCol="0" anchor="t"/>
          <a:lstStyle/>
          <a:p>
            <a:pPr marL="0" indent="0" algn="l">
              <a:lnSpc>
                <a:spcPts val="1500"/>
              </a:lnSpc>
              <a:buNone/>
            </a:pPr>
            <a:r>
              <a:rPr lang="en-US" sz="1050" dirty="0">
                <a:solidFill>
                  <a:srgbClr val="FFFFFF"/>
                </a:solidFill>
                <a:latin typeface="Arial" pitchFamily="34" charset="0"/>
                <a:ea typeface="Arial" pitchFamily="34" charset="-122"/>
                <a:cs typeface="Arial" pitchFamily="34" charset="-120"/>
              </a:rPr>
              <a:t>Hospital administrators, policymakers, and healthcare analysts</a:t>
            </a:r>
            <a:endParaRPr lang="en-US" sz="1050" dirty="0"/>
          </a:p>
        </p:txBody>
      </p:sp>
      <p:sp>
        <p:nvSpPr>
          <p:cNvPr id="10" name="Text 8"/>
          <p:cNvSpPr/>
          <p:nvPr/>
        </p:nvSpPr>
        <p:spPr>
          <a:xfrm>
            <a:off x="228600" y="2200275"/>
            <a:ext cx="8686800" cy="1472208"/>
          </a:xfrm>
          <a:prstGeom prst="roundRect">
            <a:avLst>
              <a:gd name="adj" fmla="val 5176"/>
            </a:avLst>
          </a:prstGeom>
          <a:solidFill>
            <a:srgbClr val="FFFFFF"/>
          </a:solidFill>
          <a:ln w="19050">
            <a:solidFill>
              <a:srgbClr val="CBD5E1"/>
            </a:solidFill>
          </a:ln>
        </p:spPr>
        <p:txBody>
          <a:bodyPr wrap="square" rtlCol="0" anchor="ctr"/>
          <a:lstStyle/>
          <a:p>
            <a:pPr marL="0" indent="0">
              <a:buNone/>
            </a:pPr>
            <a:endParaRPr lang="en-US" dirty="0"/>
          </a:p>
        </p:txBody>
      </p:sp>
      <p:sp>
        <p:nvSpPr>
          <p:cNvPr id="11" name="Text 9"/>
          <p:cNvSpPr/>
          <p:nvPr/>
        </p:nvSpPr>
        <p:spPr>
          <a:xfrm>
            <a:off x="438150" y="2409825"/>
            <a:ext cx="8433054" cy="266700"/>
          </a:xfrm>
          <a:prstGeom prst="rect">
            <a:avLst/>
          </a:prstGeom>
          <a:noFill/>
          <a:ln/>
        </p:spPr>
        <p:txBody>
          <a:bodyPr wrap="square" lIns="0" tIns="0" rIns="0" bIns="0" rtlCol="0" anchor="t"/>
          <a:lstStyle/>
          <a:p>
            <a:pPr marL="0" indent="0" algn="l">
              <a:lnSpc>
                <a:spcPts val="2100"/>
              </a:lnSpc>
              <a:spcAft>
                <a:spcPts val="900"/>
              </a:spcAft>
              <a:buNone/>
            </a:pPr>
            <a:r>
              <a:rPr lang="en-US" sz="1350" b="1" dirty="0">
                <a:solidFill>
                  <a:srgbClr val="0C4A6E"/>
                </a:solidFill>
                <a:latin typeface="Arial" pitchFamily="34" charset="0"/>
                <a:ea typeface="Arial" pitchFamily="34" charset="-122"/>
                <a:cs typeface="Arial" pitchFamily="34" charset="-120"/>
              </a:rPr>
              <a:t>Key Features</a:t>
            </a:r>
            <a:endParaRPr lang="en-US" sz="1350" dirty="0"/>
          </a:p>
        </p:txBody>
      </p:sp>
      <p:sp>
        <p:nvSpPr>
          <p:cNvPr id="12" name="Text 10"/>
          <p:cNvSpPr/>
          <p:nvPr/>
        </p:nvSpPr>
        <p:spPr>
          <a:xfrm>
            <a:off x="438150" y="2790825"/>
            <a:ext cx="413880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0891B2"/>
                </a:solidFill>
                <a:latin typeface="Arial" pitchFamily="34" charset="0"/>
                <a:ea typeface="Arial" pitchFamily="34" charset="-122"/>
                <a:cs typeface="Arial" pitchFamily="34" charset="-120"/>
              </a:rPr>
              <a:t>Performance Metrics:</a:t>
            </a:r>
            <a:r>
              <a:rPr lang="en-US" sz="975" dirty="0">
                <a:solidFill>
                  <a:srgbClr val="1E293B"/>
                </a:solidFill>
                <a:latin typeface="Arial" pitchFamily="34" charset="0"/>
                <a:ea typeface="Arial" pitchFamily="34" charset="-122"/>
                <a:cs typeface="Arial" pitchFamily="34" charset="-120"/>
              </a:rPr>
              <a:t> Overall ratings, mortality, safety, readmissions</a:t>
            </a:r>
            <a:endParaRPr lang="en-US" sz="975" dirty="0"/>
          </a:p>
        </p:txBody>
      </p:sp>
      <p:sp>
        <p:nvSpPr>
          <p:cNvPr id="13" name="Text 11"/>
          <p:cNvSpPr/>
          <p:nvPr/>
        </p:nvSpPr>
        <p:spPr>
          <a:xfrm>
            <a:off x="438150" y="3040261"/>
            <a:ext cx="413880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0891B2"/>
                </a:solidFill>
                <a:latin typeface="Arial" pitchFamily="34" charset="0"/>
                <a:ea typeface="Arial" pitchFamily="34" charset="-122"/>
                <a:cs typeface="Arial" pitchFamily="34" charset="-120"/>
              </a:rPr>
              <a:t>What-If Analysis:</a:t>
            </a:r>
            <a:r>
              <a:rPr lang="en-US" sz="975" dirty="0">
                <a:solidFill>
                  <a:srgbClr val="1E293B"/>
                </a:solidFill>
                <a:latin typeface="Arial" pitchFamily="34" charset="0"/>
                <a:ea typeface="Arial" pitchFamily="34" charset="-122"/>
                <a:cs typeface="Arial" pitchFamily="34" charset="-120"/>
              </a:rPr>
              <a:t> Interactive sliders for policy simulation</a:t>
            </a:r>
            <a:endParaRPr lang="en-US" sz="975" dirty="0"/>
          </a:p>
        </p:txBody>
      </p:sp>
      <p:sp>
        <p:nvSpPr>
          <p:cNvPr id="14" name="Text 12"/>
          <p:cNvSpPr/>
          <p:nvPr/>
        </p:nvSpPr>
        <p:spPr>
          <a:xfrm>
            <a:off x="438150" y="3289697"/>
            <a:ext cx="4138803" cy="173236"/>
          </a:xfrm>
          <a:prstGeom prst="rect">
            <a:avLst/>
          </a:prstGeom>
          <a:noFill/>
          <a:ln/>
        </p:spPr>
        <p:txBody>
          <a:bodyPr wrap="square" lIns="0" tIns="0" rIns="0" bIns="0" rtlCol="0" anchor="t"/>
          <a:lstStyle/>
          <a:p>
            <a:pPr marL="0" indent="0" algn="l">
              <a:lnSpc>
                <a:spcPts val="1365"/>
              </a:lnSpc>
              <a:buNone/>
            </a:pPr>
            <a:r>
              <a:rPr lang="en-US" sz="975" b="1" dirty="0">
                <a:solidFill>
                  <a:srgbClr val="0891B2"/>
                </a:solidFill>
                <a:latin typeface="Arial" pitchFamily="34" charset="0"/>
                <a:ea typeface="Arial" pitchFamily="34" charset="-122"/>
                <a:cs typeface="Arial" pitchFamily="34" charset="-120"/>
              </a:rPr>
              <a:t>Geographic Insights:</a:t>
            </a:r>
            <a:r>
              <a:rPr lang="en-US" sz="975" dirty="0">
                <a:solidFill>
                  <a:srgbClr val="1E293B"/>
                </a:solidFill>
                <a:latin typeface="Arial" pitchFamily="34" charset="0"/>
                <a:ea typeface="Arial" pitchFamily="34" charset="-122"/>
                <a:cs typeface="Arial" pitchFamily="34" charset="-120"/>
              </a:rPr>
              <a:t> State-level performance visualization</a:t>
            </a:r>
            <a:endParaRPr lang="en-US" sz="975" dirty="0"/>
          </a:p>
        </p:txBody>
      </p:sp>
      <p:sp>
        <p:nvSpPr>
          <p:cNvPr id="15" name="Text 13"/>
          <p:cNvSpPr/>
          <p:nvPr/>
        </p:nvSpPr>
        <p:spPr>
          <a:xfrm>
            <a:off x="4648200" y="2790825"/>
            <a:ext cx="413880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0891B2"/>
                </a:solidFill>
                <a:latin typeface="Arial" pitchFamily="34" charset="0"/>
                <a:ea typeface="Arial" pitchFamily="34" charset="-122"/>
                <a:cs typeface="Arial" pitchFamily="34" charset="-120"/>
              </a:rPr>
              <a:t>Star Schema:</a:t>
            </a:r>
            <a:r>
              <a:rPr lang="en-US" sz="975" dirty="0">
                <a:solidFill>
                  <a:srgbClr val="1E293B"/>
                </a:solidFill>
                <a:latin typeface="Arial" pitchFamily="34" charset="0"/>
                <a:ea typeface="Arial" pitchFamily="34" charset="-122"/>
                <a:cs typeface="Arial" pitchFamily="34" charset="-120"/>
              </a:rPr>
              <a:t> Optimized data model for fast queries</a:t>
            </a:r>
            <a:endParaRPr lang="en-US" sz="975" dirty="0"/>
          </a:p>
        </p:txBody>
      </p:sp>
      <p:sp>
        <p:nvSpPr>
          <p:cNvPr id="16" name="Text 14"/>
          <p:cNvSpPr/>
          <p:nvPr/>
        </p:nvSpPr>
        <p:spPr>
          <a:xfrm>
            <a:off x="4648200" y="3040261"/>
            <a:ext cx="413880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0891B2"/>
                </a:solidFill>
                <a:latin typeface="Arial" pitchFamily="34" charset="0"/>
                <a:ea typeface="Arial" pitchFamily="34" charset="-122"/>
                <a:cs typeface="Arial" pitchFamily="34" charset="-120"/>
              </a:rPr>
              <a:t>Advanced DAX:</a:t>
            </a:r>
            <a:r>
              <a:rPr lang="en-US" sz="975" dirty="0">
                <a:solidFill>
                  <a:srgbClr val="1E293B"/>
                </a:solidFill>
                <a:latin typeface="Arial" pitchFamily="34" charset="0"/>
                <a:ea typeface="Arial" pitchFamily="34" charset="-122"/>
                <a:cs typeface="Arial" pitchFamily="34" charset="-120"/>
              </a:rPr>
              <a:t> Complex measures and calculations</a:t>
            </a:r>
            <a:endParaRPr lang="en-US" sz="975" dirty="0"/>
          </a:p>
        </p:txBody>
      </p:sp>
      <p:sp>
        <p:nvSpPr>
          <p:cNvPr id="17" name="Text 15"/>
          <p:cNvSpPr/>
          <p:nvPr/>
        </p:nvSpPr>
        <p:spPr>
          <a:xfrm>
            <a:off x="4648200" y="3289697"/>
            <a:ext cx="4138803" cy="173236"/>
          </a:xfrm>
          <a:prstGeom prst="rect">
            <a:avLst/>
          </a:prstGeom>
          <a:noFill/>
          <a:ln/>
        </p:spPr>
        <p:txBody>
          <a:bodyPr wrap="square" lIns="0" tIns="0" rIns="0" bIns="0" rtlCol="0" anchor="t"/>
          <a:lstStyle/>
          <a:p>
            <a:pPr marL="0" indent="0" algn="l">
              <a:lnSpc>
                <a:spcPts val="1365"/>
              </a:lnSpc>
              <a:buNone/>
            </a:pPr>
            <a:r>
              <a:rPr lang="en-US" sz="975" b="1" dirty="0">
                <a:solidFill>
                  <a:srgbClr val="0891B2"/>
                </a:solidFill>
                <a:latin typeface="Arial" pitchFamily="34" charset="0"/>
                <a:ea typeface="Arial" pitchFamily="34" charset="-122"/>
                <a:cs typeface="Arial" pitchFamily="34" charset="-120"/>
              </a:rPr>
              <a:t>Multi-Page Navigation:</a:t>
            </a:r>
            <a:r>
              <a:rPr lang="en-US" sz="975" dirty="0">
                <a:solidFill>
                  <a:srgbClr val="1E293B"/>
                </a:solidFill>
                <a:latin typeface="Arial" pitchFamily="34" charset="0"/>
                <a:ea typeface="Arial" pitchFamily="34" charset="-122"/>
                <a:cs typeface="Arial" pitchFamily="34" charset="-120"/>
              </a:rPr>
              <a:t> 4 specialized dashboard pages</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5673852"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Team Structure &amp; Responsibilities</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1510010"/>
            <a:ext cx="4267200" cy="1380827"/>
          </a:xfrm>
          <a:prstGeom prst="roundRect">
            <a:avLst>
              <a:gd name="adj" fmla="val 2759"/>
            </a:avLst>
          </a:prstGeom>
          <a:solidFill>
            <a:srgbClr val="FFFFFF"/>
          </a:solidFill>
          <a:ln/>
        </p:spPr>
        <p:txBody>
          <a:bodyPr wrap="square" rtlCol="0" anchor="ctr"/>
          <a:lstStyle/>
          <a:p>
            <a:pPr marL="0" indent="0">
              <a:buNone/>
            </a:pPr>
            <a:endParaRPr lang="en-US" dirty="0"/>
          </a:p>
        </p:txBody>
      </p:sp>
      <p:sp>
        <p:nvSpPr>
          <p:cNvPr id="5" name="Shape 3"/>
          <p:cNvSpPr/>
          <p:nvPr/>
        </p:nvSpPr>
        <p:spPr>
          <a:xfrm>
            <a:off x="252413" y="1510010"/>
            <a:ext cx="0" cy="1380827"/>
          </a:xfrm>
          <a:prstGeom prst="line">
            <a:avLst/>
          </a:prstGeom>
          <a:noFill/>
          <a:ln w="47625">
            <a:solidFill>
              <a:srgbClr val="0C4A6E"/>
            </a:solidFill>
            <a:prstDash val="solid"/>
          </a:ln>
        </p:spPr>
      </p:sp>
      <p:sp>
        <p:nvSpPr>
          <p:cNvPr id="6" name="Text 4"/>
          <p:cNvSpPr/>
          <p:nvPr/>
        </p:nvSpPr>
        <p:spPr>
          <a:xfrm>
            <a:off x="428625" y="1662410"/>
            <a:ext cx="3993071" cy="266700"/>
          </a:xfrm>
          <a:prstGeom prst="rect">
            <a:avLst/>
          </a:prstGeom>
          <a:noFill/>
          <a:ln/>
        </p:spPr>
        <p:txBody>
          <a:bodyPr wrap="square" lIns="0" tIns="0" rIns="0" bIns="0" rtlCol="0" anchor="t"/>
          <a:lstStyle/>
          <a:p>
            <a:pPr marL="0" indent="0" algn="l">
              <a:lnSpc>
                <a:spcPts val="2100"/>
              </a:lnSpc>
              <a:spcAft>
                <a:spcPts val="600"/>
              </a:spcAft>
              <a:buNone/>
            </a:pPr>
            <a:r>
              <a:rPr lang="en-US" sz="1350" b="1" dirty="0">
                <a:solidFill>
                  <a:srgbClr val="0C4A6E"/>
                </a:solidFill>
                <a:latin typeface="Arial" pitchFamily="34" charset="0"/>
                <a:ea typeface="Arial" pitchFamily="34" charset="-122"/>
                <a:cs typeface="Arial" pitchFamily="34" charset="-120"/>
              </a:rPr>
              <a:t>Deeksha</a:t>
            </a:r>
            <a:endParaRPr lang="en-US" sz="1350" dirty="0"/>
          </a:p>
        </p:txBody>
      </p:sp>
      <p:sp>
        <p:nvSpPr>
          <p:cNvPr id="7" name="Text 5"/>
          <p:cNvSpPr/>
          <p:nvPr/>
        </p:nvSpPr>
        <p:spPr>
          <a:xfrm>
            <a:off x="428625" y="2005310"/>
            <a:ext cx="39930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Data Foundation &amp; KPI Design</a:t>
            </a:r>
            <a:endParaRPr lang="en-US" sz="900" dirty="0"/>
          </a:p>
        </p:txBody>
      </p:sp>
      <p:sp>
        <p:nvSpPr>
          <p:cNvPr id="8" name="Text 6"/>
          <p:cNvSpPr/>
          <p:nvPr/>
        </p:nvSpPr>
        <p:spPr>
          <a:xfrm>
            <a:off x="428625" y="2222450"/>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CSV data ingestion &amp; cleaning</a:t>
            </a:r>
            <a:endParaRPr lang="en-US" sz="825" dirty="0"/>
          </a:p>
        </p:txBody>
      </p:sp>
      <p:sp>
        <p:nvSpPr>
          <p:cNvPr id="9" name="Text 7"/>
          <p:cNvSpPr/>
          <p:nvPr/>
        </p:nvSpPr>
        <p:spPr>
          <a:xfrm>
            <a:off x="428625" y="2407146"/>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Standardized 38-column dataset</a:t>
            </a:r>
            <a:endParaRPr lang="en-US" sz="825" dirty="0"/>
          </a:p>
        </p:txBody>
      </p:sp>
      <p:sp>
        <p:nvSpPr>
          <p:cNvPr id="10" name="Text 8"/>
          <p:cNvSpPr/>
          <p:nvPr/>
        </p:nvSpPr>
        <p:spPr>
          <a:xfrm>
            <a:off x="428625" y="2591842"/>
            <a:ext cx="3993071"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Overview Page KPI card design</a:t>
            </a:r>
            <a:endParaRPr lang="en-US" sz="825" dirty="0"/>
          </a:p>
        </p:txBody>
      </p:sp>
      <p:sp>
        <p:nvSpPr>
          <p:cNvPr id="11" name="Text 9"/>
          <p:cNvSpPr/>
          <p:nvPr/>
        </p:nvSpPr>
        <p:spPr>
          <a:xfrm>
            <a:off x="228600" y="2967038"/>
            <a:ext cx="4267200" cy="1380827"/>
          </a:xfrm>
          <a:prstGeom prst="roundRect">
            <a:avLst>
              <a:gd name="adj" fmla="val 2759"/>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252413" y="2967038"/>
            <a:ext cx="0" cy="1380827"/>
          </a:xfrm>
          <a:prstGeom prst="line">
            <a:avLst/>
          </a:prstGeom>
          <a:noFill/>
          <a:ln w="47625">
            <a:solidFill>
              <a:srgbClr val="0891B2"/>
            </a:solidFill>
            <a:prstDash val="solid"/>
          </a:ln>
        </p:spPr>
      </p:sp>
      <p:sp>
        <p:nvSpPr>
          <p:cNvPr id="13" name="Text 11"/>
          <p:cNvSpPr/>
          <p:nvPr/>
        </p:nvSpPr>
        <p:spPr>
          <a:xfrm>
            <a:off x="428625" y="3119438"/>
            <a:ext cx="3993071" cy="266700"/>
          </a:xfrm>
          <a:prstGeom prst="rect">
            <a:avLst/>
          </a:prstGeom>
          <a:noFill/>
          <a:ln/>
        </p:spPr>
        <p:txBody>
          <a:bodyPr wrap="square" lIns="0" tIns="0" rIns="0" bIns="0" rtlCol="0" anchor="t"/>
          <a:lstStyle/>
          <a:p>
            <a:pPr marL="0" indent="0" algn="l">
              <a:lnSpc>
                <a:spcPts val="2100"/>
              </a:lnSpc>
              <a:spcAft>
                <a:spcPts val="600"/>
              </a:spcAft>
              <a:buNone/>
            </a:pPr>
            <a:r>
              <a:rPr lang="en-US" sz="1350" b="1" dirty="0">
                <a:solidFill>
                  <a:srgbClr val="0C4A6E"/>
                </a:solidFill>
                <a:latin typeface="Arial" pitchFamily="34" charset="0"/>
                <a:ea typeface="Arial" pitchFamily="34" charset="-122"/>
                <a:cs typeface="Arial" pitchFamily="34" charset="-120"/>
              </a:rPr>
              <a:t>Vaishnavi</a:t>
            </a:r>
            <a:endParaRPr lang="en-US" sz="1350" dirty="0"/>
          </a:p>
        </p:txBody>
      </p:sp>
      <p:sp>
        <p:nvSpPr>
          <p:cNvPr id="14" name="Text 12"/>
          <p:cNvSpPr/>
          <p:nvPr/>
        </p:nvSpPr>
        <p:spPr>
          <a:xfrm>
            <a:off x="428625" y="3462338"/>
            <a:ext cx="39930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Data Modeling &amp; Performance Page</a:t>
            </a:r>
            <a:endParaRPr lang="en-US" sz="900" dirty="0"/>
          </a:p>
        </p:txBody>
      </p:sp>
      <p:sp>
        <p:nvSpPr>
          <p:cNvPr id="15" name="Text 13"/>
          <p:cNvSpPr/>
          <p:nvPr/>
        </p:nvSpPr>
        <p:spPr>
          <a:xfrm>
            <a:off x="428625" y="3679478"/>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Star Schema implementation</a:t>
            </a:r>
            <a:endParaRPr lang="en-US" sz="825" dirty="0"/>
          </a:p>
        </p:txBody>
      </p:sp>
      <p:sp>
        <p:nvSpPr>
          <p:cNvPr id="16" name="Text 14"/>
          <p:cNvSpPr/>
          <p:nvPr/>
        </p:nvSpPr>
        <p:spPr>
          <a:xfrm>
            <a:off x="428625" y="3864173"/>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Dimension table creation</a:t>
            </a:r>
            <a:endParaRPr lang="en-US" sz="825" dirty="0"/>
          </a:p>
        </p:txBody>
      </p:sp>
      <p:sp>
        <p:nvSpPr>
          <p:cNvPr id="17" name="Text 15"/>
          <p:cNvSpPr/>
          <p:nvPr/>
        </p:nvSpPr>
        <p:spPr>
          <a:xfrm>
            <a:off x="428625" y="4048869"/>
            <a:ext cx="3993071"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Performance Details page design</a:t>
            </a:r>
            <a:endParaRPr lang="en-US" sz="825" dirty="0"/>
          </a:p>
        </p:txBody>
      </p:sp>
      <p:sp>
        <p:nvSpPr>
          <p:cNvPr id="18" name="Text 16"/>
          <p:cNvSpPr/>
          <p:nvPr/>
        </p:nvSpPr>
        <p:spPr>
          <a:xfrm>
            <a:off x="4648200" y="1510010"/>
            <a:ext cx="4267200" cy="1380827"/>
          </a:xfrm>
          <a:prstGeom prst="roundRect">
            <a:avLst>
              <a:gd name="adj" fmla="val 2759"/>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4672013" y="1510010"/>
            <a:ext cx="0" cy="1380827"/>
          </a:xfrm>
          <a:prstGeom prst="line">
            <a:avLst/>
          </a:prstGeom>
          <a:noFill/>
          <a:ln w="47625">
            <a:solidFill>
              <a:srgbClr val="0891B2"/>
            </a:solidFill>
            <a:prstDash val="solid"/>
          </a:ln>
        </p:spPr>
      </p:sp>
      <p:sp>
        <p:nvSpPr>
          <p:cNvPr id="20" name="Text 18"/>
          <p:cNvSpPr/>
          <p:nvPr/>
        </p:nvSpPr>
        <p:spPr>
          <a:xfrm>
            <a:off x="4848225" y="1662410"/>
            <a:ext cx="3993071" cy="266700"/>
          </a:xfrm>
          <a:prstGeom prst="rect">
            <a:avLst/>
          </a:prstGeom>
          <a:noFill/>
          <a:ln/>
        </p:spPr>
        <p:txBody>
          <a:bodyPr wrap="square" lIns="0" tIns="0" rIns="0" bIns="0" rtlCol="0" anchor="t"/>
          <a:lstStyle/>
          <a:p>
            <a:pPr marL="0" indent="0" algn="l">
              <a:lnSpc>
                <a:spcPts val="2100"/>
              </a:lnSpc>
              <a:spcAft>
                <a:spcPts val="600"/>
              </a:spcAft>
              <a:buNone/>
            </a:pPr>
            <a:r>
              <a:rPr lang="en-US" sz="1350" b="1" dirty="0">
                <a:solidFill>
                  <a:srgbClr val="0C4A6E"/>
                </a:solidFill>
                <a:latin typeface="Arial" pitchFamily="34" charset="0"/>
                <a:ea typeface="Arial" pitchFamily="34" charset="-122"/>
                <a:cs typeface="Arial" pitchFamily="34" charset="-120"/>
              </a:rPr>
              <a:t>Deepak</a:t>
            </a:r>
            <a:endParaRPr lang="en-US" sz="1350" dirty="0"/>
          </a:p>
        </p:txBody>
      </p:sp>
      <p:sp>
        <p:nvSpPr>
          <p:cNvPr id="21" name="Text 19"/>
          <p:cNvSpPr/>
          <p:nvPr/>
        </p:nvSpPr>
        <p:spPr>
          <a:xfrm>
            <a:off x="4848225" y="2005310"/>
            <a:ext cx="39930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DAX Development &amp; Geographic Analysis</a:t>
            </a:r>
            <a:endParaRPr lang="en-US" sz="900" dirty="0"/>
          </a:p>
        </p:txBody>
      </p:sp>
      <p:sp>
        <p:nvSpPr>
          <p:cNvPr id="22" name="Text 20"/>
          <p:cNvSpPr/>
          <p:nvPr/>
        </p:nvSpPr>
        <p:spPr>
          <a:xfrm>
            <a:off x="4848225" y="2222450"/>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Core DAX measures development</a:t>
            </a:r>
            <a:endParaRPr lang="en-US" sz="825" dirty="0"/>
          </a:p>
        </p:txBody>
      </p:sp>
      <p:sp>
        <p:nvSpPr>
          <p:cNvPr id="23" name="Text 21"/>
          <p:cNvSpPr/>
          <p:nvPr/>
        </p:nvSpPr>
        <p:spPr>
          <a:xfrm>
            <a:off x="4848225" y="2407146"/>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Rating &amp; performance calculations</a:t>
            </a:r>
            <a:endParaRPr lang="en-US" sz="825" dirty="0"/>
          </a:p>
        </p:txBody>
      </p:sp>
      <p:sp>
        <p:nvSpPr>
          <p:cNvPr id="24" name="Text 22"/>
          <p:cNvSpPr/>
          <p:nvPr/>
        </p:nvSpPr>
        <p:spPr>
          <a:xfrm>
            <a:off x="4848225" y="2591842"/>
            <a:ext cx="3993071"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Geographic Analysis page with maps</a:t>
            </a:r>
            <a:endParaRPr lang="en-US" sz="825" dirty="0"/>
          </a:p>
        </p:txBody>
      </p:sp>
      <p:sp>
        <p:nvSpPr>
          <p:cNvPr id="25" name="Text 23"/>
          <p:cNvSpPr/>
          <p:nvPr/>
        </p:nvSpPr>
        <p:spPr>
          <a:xfrm>
            <a:off x="4648200" y="2967038"/>
            <a:ext cx="4267200" cy="1380827"/>
          </a:xfrm>
          <a:prstGeom prst="roundRect">
            <a:avLst>
              <a:gd name="adj" fmla="val 2759"/>
            </a:avLst>
          </a:prstGeom>
          <a:solidFill>
            <a:srgbClr val="FFFFFF"/>
          </a:solidFill>
          <a:ln/>
        </p:spPr>
        <p:txBody>
          <a:bodyPr wrap="square" rtlCol="0" anchor="ctr"/>
          <a:lstStyle/>
          <a:p>
            <a:pPr marL="0" indent="0">
              <a:buNone/>
            </a:pPr>
            <a:endParaRPr lang="en-US" dirty="0"/>
          </a:p>
        </p:txBody>
      </p:sp>
      <p:sp>
        <p:nvSpPr>
          <p:cNvPr id="26" name="Shape 24"/>
          <p:cNvSpPr/>
          <p:nvPr/>
        </p:nvSpPr>
        <p:spPr>
          <a:xfrm>
            <a:off x="4672013" y="2967038"/>
            <a:ext cx="0" cy="1380827"/>
          </a:xfrm>
          <a:prstGeom prst="line">
            <a:avLst/>
          </a:prstGeom>
          <a:noFill/>
          <a:ln w="47625">
            <a:solidFill>
              <a:srgbClr val="334155"/>
            </a:solidFill>
            <a:prstDash val="solid"/>
          </a:ln>
        </p:spPr>
      </p:sp>
      <p:sp>
        <p:nvSpPr>
          <p:cNvPr id="27" name="Text 25"/>
          <p:cNvSpPr/>
          <p:nvPr/>
        </p:nvSpPr>
        <p:spPr>
          <a:xfrm>
            <a:off x="4848225" y="3119438"/>
            <a:ext cx="3993071" cy="266700"/>
          </a:xfrm>
          <a:prstGeom prst="rect">
            <a:avLst/>
          </a:prstGeom>
          <a:noFill/>
          <a:ln/>
        </p:spPr>
        <p:txBody>
          <a:bodyPr wrap="square" lIns="0" tIns="0" rIns="0" bIns="0" rtlCol="0" anchor="t"/>
          <a:lstStyle/>
          <a:p>
            <a:pPr marL="0" indent="0" algn="l">
              <a:lnSpc>
                <a:spcPts val="2100"/>
              </a:lnSpc>
              <a:spcAft>
                <a:spcPts val="600"/>
              </a:spcAft>
              <a:buNone/>
            </a:pPr>
            <a:r>
              <a:rPr lang="en-US" sz="1350" b="1" dirty="0">
                <a:solidFill>
                  <a:srgbClr val="0C4A6E"/>
                </a:solidFill>
                <a:latin typeface="Arial" pitchFamily="34" charset="0"/>
                <a:ea typeface="Arial" pitchFamily="34" charset="-122"/>
                <a:cs typeface="Arial" pitchFamily="34" charset="-120"/>
              </a:rPr>
              <a:t>Sukesh</a:t>
            </a:r>
            <a:endParaRPr lang="en-US" sz="1350" dirty="0"/>
          </a:p>
        </p:txBody>
      </p:sp>
      <p:sp>
        <p:nvSpPr>
          <p:cNvPr id="28" name="Text 26"/>
          <p:cNvSpPr/>
          <p:nvPr/>
        </p:nvSpPr>
        <p:spPr>
          <a:xfrm>
            <a:off x="4848225" y="3462338"/>
            <a:ext cx="39930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Scenario Modeling &amp; Deployment</a:t>
            </a:r>
            <a:endParaRPr lang="en-US" sz="900" dirty="0"/>
          </a:p>
        </p:txBody>
      </p:sp>
      <p:sp>
        <p:nvSpPr>
          <p:cNvPr id="29" name="Text 27"/>
          <p:cNvSpPr/>
          <p:nvPr/>
        </p:nvSpPr>
        <p:spPr>
          <a:xfrm>
            <a:off x="4848225" y="3679478"/>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What-If parameter development</a:t>
            </a:r>
            <a:endParaRPr lang="en-US" sz="825" dirty="0"/>
          </a:p>
        </p:txBody>
      </p:sp>
      <p:sp>
        <p:nvSpPr>
          <p:cNvPr id="30" name="Text 28"/>
          <p:cNvSpPr/>
          <p:nvPr/>
        </p:nvSpPr>
        <p:spPr>
          <a:xfrm>
            <a:off x="4848225" y="3864173"/>
            <a:ext cx="3993071"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1E293B"/>
                </a:solidFill>
                <a:latin typeface="Arial" pitchFamily="34" charset="0"/>
                <a:ea typeface="Arial" pitchFamily="34" charset="-122"/>
                <a:cs typeface="Arial" pitchFamily="34" charset="-120"/>
              </a:rPr>
              <a:t>Complex scenario DAX logic</a:t>
            </a:r>
            <a:endParaRPr lang="en-US" sz="825" dirty="0"/>
          </a:p>
        </p:txBody>
      </p:sp>
      <p:sp>
        <p:nvSpPr>
          <p:cNvPr id="31" name="Text 29"/>
          <p:cNvSpPr/>
          <p:nvPr/>
        </p:nvSpPr>
        <p:spPr>
          <a:xfrm>
            <a:off x="4848225" y="4048869"/>
            <a:ext cx="3993071"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Scenario Insights page creation</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7452" y="958362"/>
            <a:ext cx="7687994" cy="3693319"/>
          </a:xfrm>
          <a:prstGeom prst="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wrap="square" rtlCol="0">
            <a:spAutoFit/>
          </a:bodyPr>
          <a:lstStyle/>
          <a:p>
            <a:pPr marL="228600" indent="-228600">
              <a:buAutoNum type="arabicPeriod"/>
            </a:pPr>
            <a:r>
              <a:rPr lang="en-US" sz="1300" b="1" dirty="0" smtClean="0"/>
              <a:t>Data </a:t>
            </a:r>
            <a:r>
              <a:rPr lang="en-US" sz="1300" b="1" dirty="0"/>
              <a:t>Foundation and Model:</a:t>
            </a:r>
            <a:r>
              <a:rPr lang="en-US" sz="1300" dirty="0"/>
              <a:t> The project began with </a:t>
            </a:r>
            <a:r>
              <a:rPr lang="en-US" sz="1300" b="1" dirty="0" err="1"/>
              <a:t>Deeksha</a:t>
            </a:r>
            <a:r>
              <a:rPr lang="en-US" sz="1300" dirty="0"/>
              <a:t> handling the ingestion of all 38 </a:t>
            </a:r>
            <a:r>
              <a:rPr lang="en-US" sz="1300" dirty="0" smtClean="0"/>
              <a:t>source</a:t>
            </a:r>
          </a:p>
          <a:p>
            <a:r>
              <a:rPr lang="en-US" sz="1300" dirty="0" smtClean="0"/>
              <a:t>columns </a:t>
            </a:r>
            <a:r>
              <a:rPr lang="en-US" sz="1300" dirty="0"/>
              <a:t>and performing rigorous initial cleaning in Power Query. This data was then structured by </a:t>
            </a:r>
            <a:r>
              <a:rPr lang="en-US" sz="1300" b="1" dirty="0" err="1"/>
              <a:t>Vaishnavi</a:t>
            </a:r>
            <a:r>
              <a:rPr lang="en-US" sz="1300" dirty="0"/>
              <a:t> into an optimized </a:t>
            </a:r>
            <a:r>
              <a:rPr lang="en-US" sz="1300" b="1" dirty="0"/>
              <a:t>Star Schema</a:t>
            </a:r>
            <a:r>
              <a:rPr lang="en-US" sz="1300" dirty="0"/>
              <a:t>, ensuring the central Hospital fact table was properly linked to lookup tables (State, Ownership, etc.). This model design, coupled with the removal of unused columns, was essential for meeting the quick refresh time requirements</a:t>
            </a:r>
            <a:r>
              <a:rPr lang="en-US" sz="1300" dirty="0" smtClean="0"/>
              <a:t>.</a:t>
            </a:r>
          </a:p>
          <a:p>
            <a:endParaRPr lang="en-US" sz="1300" dirty="0"/>
          </a:p>
          <a:p>
            <a:r>
              <a:rPr lang="en-US" sz="1300" b="1" dirty="0"/>
              <a:t>2. Key Data Anomalies:</a:t>
            </a:r>
            <a:r>
              <a:rPr lang="en-US" sz="1300" dirty="0"/>
              <a:t> A critical challenge, primarily solved by </a:t>
            </a:r>
            <a:r>
              <a:rPr lang="en-US" sz="1300" b="1" dirty="0" err="1"/>
              <a:t>Deeksha</a:t>
            </a:r>
            <a:r>
              <a:rPr lang="en-US" sz="1300" dirty="0"/>
              <a:t>, was dealing with non-standard values. Numerous vital columns, including the Hospital overall rating and all Count of... Measures, contained the text string </a:t>
            </a:r>
            <a:r>
              <a:rPr lang="en-US" sz="1300" b="1" dirty="0"/>
              <a:t>"Not Available"</a:t>
            </a:r>
            <a:r>
              <a:rPr lang="en-US" sz="1300" dirty="0"/>
              <a:t>. This forced us to use custom M-Query transformations to standardize these entries to numeric values (</a:t>
            </a:r>
            <a:r>
              <a:rPr lang="en-US" sz="1300" dirty="0" smtClean="0"/>
              <a:t>NA </a:t>
            </a:r>
            <a:r>
              <a:rPr lang="en-US" sz="1300" dirty="0"/>
              <a:t>or 0) before any aggregation could occur. We also documented the high volume of missing data in the Meets criteria for birthing friendly designation column, which required careful consideration during analysis.</a:t>
            </a:r>
          </a:p>
          <a:p>
            <a:pPr marL="45720" indent="0">
              <a:buNone/>
            </a:pPr>
            <a:endParaRPr lang="en-US" sz="1300" dirty="0"/>
          </a:p>
          <a:p>
            <a:r>
              <a:rPr lang="en-US" sz="1300" b="1" dirty="0"/>
              <a:t>3. Calculation and Deployment:</a:t>
            </a:r>
            <a:r>
              <a:rPr lang="en-US" sz="1300" dirty="0"/>
              <a:t> The report's intelligence is driven by DAX measures written by </a:t>
            </a:r>
            <a:r>
              <a:rPr lang="en-US" sz="1300" b="1" dirty="0"/>
              <a:t>Deepak</a:t>
            </a:r>
            <a:r>
              <a:rPr lang="en-US" sz="1300" dirty="0"/>
              <a:t>, who derived all core aggregated metrics (counts by rating, performance percentages). </a:t>
            </a:r>
            <a:r>
              <a:rPr lang="en-US" sz="1300" b="1" dirty="0" err="1"/>
              <a:t>Sukesh</a:t>
            </a:r>
            <a:r>
              <a:rPr lang="en-US" sz="1300" dirty="0"/>
              <a:t> built the conditional DAX logic that powers the "What-If" sliders, allowing metrics to recalculate dynamically. The final .</a:t>
            </a:r>
            <a:r>
              <a:rPr lang="en-US" sz="1300" dirty="0" err="1"/>
              <a:t>pbix</a:t>
            </a:r>
            <a:r>
              <a:rPr lang="en-US" sz="1300" dirty="0"/>
              <a:t> file was published to the Power BI Service, permissions were configured, and a scheduled refresh was established by the team</a:t>
            </a:r>
            <a:r>
              <a:rPr lang="en-US" sz="1300" dirty="0" smtClean="0"/>
              <a:t>.</a:t>
            </a:r>
            <a:endParaRPr lang="en-US" sz="1300" dirty="0"/>
          </a:p>
        </p:txBody>
      </p:sp>
      <p:sp>
        <p:nvSpPr>
          <p:cNvPr id="6" name="Rectangle 5"/>
          <p:cNvSpPr/>
          <p:nvPr/>
        </p:nvSpPr>
        <p:spPr>
          <a:xfrm>
            <a:off x="527538" y="117561"/>
            <a:ext cx="6821034" cy="477054"/>
          </a:xfrm>
          <a:prstGeom prst="rect">
            <a:avLst/>
          </a:prstGeom>
        </p:spPr>
        <p:txBody>
          <a:bodyPr wrap="none">
            <a:spAutoFit/>
          </a:bodyPr>
          <a:lstStyle/>
          <a:p>
            <a:pPr>
              <a:lnSpc>
                <a:spcPts val="3000"/>
              </a:lnSpc>
              <a:spcAft>
                <a:spcPts val="300"/>
              </a:spcAft>
            </a:pPr>
            <a:r>
              <a:rPr lang="en-US" sz="2700" b="1" dirty="0" smtClean="0">
                <a:solidFill>
                  <a:srgbClr val="0C4A6E"/>
                </a:solidFill>
                <a:latin typeface="Arial" pitchFamily="34" charset="0"/>
                <a:cs typeface="Arial" pitchFamily="34" charset="-120"/>
              </a:rPr>
              <a:t>Technical Summary and Data Anomalies</a:t>
            </a:r>
            <a:endParaRPr lang="en-US" sz="2700" dirty="0"/>
          </a:p>
        </p:txBody>
      </p:sp>
      <p:sp>
        <p:nvSpPr>
          <p:cNvPr id="7" name="Text 1"/>
          <p:cNvSpPr/>
          <p:nvPr/>
        </p:nvSpPr>
        <p:spPr>
          <a:xfrm>
            <a:off x="527538" y="594905"/>
            <a:ext cx="1143000" cy="28575"/>
          </a:xfrm>
          <a:prstGeom prst="rect">
            <a:avLst/>
          </a:prstGeom>
          <a:solidFill>
            <a:srgbClr val="0891B2"/>
          </a:solidFill>
          <a:ln/>
        </p:spPr>
        <p:txBody>
          <a:bodyPr wrap="square" rtlCol="0" anchor="ctr"/>
          <a:lstStyle/>
          <a:p>
            <a:pPr marL="0" indent="0">
              <a:buNone/>
            </a:pPr>
            <a:endParaRPr lang="en-US" dirty="0"/>
          </a:p>
        </p:txBody>
      </p:sp>
    </p:spTree>
    <p:extLst>
      <p:ext uri="{BB962C8B-B14F-4D97-AF65-F5344CB8AC3E}">
        <p14:creationId xmlns:p14="http://schemas.microsoft.com/office/powerpoint/2010/main" val="494019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5256086"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Data Foundation &amp; Architecture</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942975"/>
            <a:ext cx="4169569" cy="1379041"/>
          </a:xfrm>
          <a:prstGeom prst="roundRect">
            <a:avLst>
              <a:gd name="adj" fmla="val 5526"/>
            </a:avLst>
          </a:prstGeom>
          <a:solidFill>
            <a:srgbClr val="0C4A6E"/>
          </a:solidFill>
          <a:ln/>
        </p:spPr>
        <p:txBody>
          <a:bodyPr wrap="square" rtlCol="0" anchor="ctr"/>
          <a:lstStyle/>
          <a:p>
            <a:pPr marL="0" indent="0">
              <a:buNone/>
            </a:pPr>
            <a:endParaRPr lang="en-US" dirty="0"/>
          </a:p>
        </p:txBody>
      </p:sp>
      <p:sp>
        <p:nvSpPr>
          <p:cNvPr id="5" name="Text 3"/>
          <p:cNvSpPr/>
          <p:nvPr/>
        </p:nvSpPr>
        <p:spPr>
          <a:xfrm>
            <a:off x="400050" y="1114425"/>
            <a:ext cx="3903202" cy="266700"/>
          </a:xfrm>
          <a:prstGeom prst="rect">
            <a:avLst/>
          </a:prstGeom>
          <a:noFill/>
          <a:ln/>
        </p:spPr>
        <p:txBody>
          <a:bodyPr wrap="square" lIns="0" tIns="0" rIns="0" bIns="0" rtlCol="0" anchor="t"/>
          <a:lstStyle/>
          <a:p>
            <a:pPr marL="0" indent="0" algn="l">
              <a:lnSpc>
                <a:spcPts val="2100"/>
              </a:lnSpc>
              <a:spcAft>
                <a:spcPts val="750"/>
              </a:spcAft>
              <a:buNone/>
            </a:pPr>
            <a:r>
              <a:rPr lang="en-US" sz="1350" b="1" dirty="0">
                <a:solidFill>
                  <a:srgbClr val="FFFFFF"/>
                </a:solidFill>
                <a:latin typeface="Arial" pitchFamily="34" charset="0"/>
                <a:ea typeface="Arial" pitchFamily="34" charset="-122"/>
                <a:cs typeface="Arial" pitchFamily="34" charset="-120"/>
              </a:rPr>
              <a:t>Data Ingestion</a:t>
            </a:r>
            <a:endParaRPr lang="en-US" sz="1350" dirty="0"/>
          </a:p>
        </p:txBody>
      </p:sp>
      <p:sp>
        <p:nvSpPr>
          <p:cNvPr id="6" name="Text 4"/>
          <p:cNvSpPr/>
          <p:nvPr/>
        </p:nvSpPr>
        <p:spPr>
          <a:xfrm>
            <a:off x="400050" y="1476375"/>
            <a:ext cx="3903202"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FFFFFF"/>
                </a:solidFill>
                <a:latin typeface="Arial" pitchFamily="34" charset="0"/>
                <a:ea typeface="Arial" pitchFamily="34" charset="-122"/>
                <a:cs typeface="Arial" pitchFamily="34" charset="-120"/>
              </a:rPr>
              <a:t>Source:</a:t>
            </a:r>
            <a:r>
              <a:rPr lang="en-US" sz="1050" dirty="0">
                <a:solidFill>
                  <a:srgbClr val="FFFFFF"/>
                </a:solidFill>
                <a:latin typeface="Arial" pitchFamily="34" charset="0"/>
                <a:ea typeface="Arial" pitchFamily="34" charset="-122"/>
                <a:cs typeface="Arial" pitchFamily="34" charset="-120"/>
              </a:rPr>
              <a:t> CSV file with 38 columns</a:t>
            </a:r>
            <a:endParaRPr lang="en-US" sz="1050" dirty="0"/>
          </a:p>
        </p:txBody>
      </p:sp>
      <p:sp>
        <p:nvSpPr>
          <p:cNvPr id="7" name="Text 5"/>
          <p:cNvSpPr/>
          <p:nvPr/>
        </p:nvSpPr>
        <p:spPr>
          <a:xfrm>
            <a:off x="400050" y="1720155"/>
            <a:ext cx="3903202"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FFFFFF"/>
                </a:solidFill>
                <a:latin typeface="Arial" pitchFamily="34" charset="0"/>
                <a:ea typeface="Arial" pitchFamily="34" charset="-122"/>
                <a:cs typeface="Arial" pitchFamily="34" charset="-120"/>
              </a:rPr>
              <a:t>Cleaning:</a:t>
            </a:r>
            <a:r>
              <a:rPr lang="en-US" sz="1050" dirty="0">
                <a:solidFill>
                  <a:srgbClr val="FFFFFF"/>
                </a:solidFill>
                <a:latin typeface="Arial" pitchFamily="34" charset="0"/>
                <a:ea typeface="Arial" pitchFamily="34" charset="-122"/>
                <a:cs typeface="Arial" pitchFamily="34" charset="-120"/>
              </a:rPr>
              <a:t> Missing values standardized</a:t>
            </a:r>
            <a:endParaRPr lang="en-US" sz="1050" dirty="0"/>
          </a:p>
        </p:txBody>
      </p:sp>
      <p:sp>
        <p:nvSpPr>
          <p:cNvPr id="8" name="Text 6"/>
          <p:cNvSpPr/>
          <p:nvPr/>
        </p:nvSpPr>
        <p:spPr>
          <a:xfrm>
            <a:off x="400050" y="1963936"/>
            <a:ext cx="3903202"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Parsing:</a:t>
            </a:r>
            <a:r>
              <a:rPr lang="en-US" sz="1050" dirty="0">
                <a:solidFill>
                  <a:srgbClr val="FFFFFF"/>
                </a:solidFill>
                <a:latin typeface="Arial" pitchFamily="34" charset="0"/>
                <a:ea typeface="Arial" pitchFamily="34" charset="-122"/>
                <a:cs typeface="Arial" pitchFamily="34" charset="-120"/>
              </a:rPr>
              <a:t> Categorical fields normalized</a:t>
            </a:r>
            <a:endParaRPr lang="en-US" sz="1050" dirty="0"/>
          </a:p>
        </p:txBody>
      </p:sp>
      <p:sp>
        <p:nvSpPr>
          <p:cNvPr id="9" name="Text 7"/>
          <p:cNvSpPr/>
          <p:nvPr/>
        </p:nvSpPr>
        <p:spPr>
          <a:xfrm>
            <a:off x="4550569" y="942975"/>
            <a:ext cx="4169569" cy="1379041"/>
          </a:xfrm>
          <a:prstGeom prst="roundRect">
            <a:avLst>
              <a:gd name="adj" fmla="val 5526"/>
            </a:avLst>
          </a:prstGeom>
          <a:solidFill>
            <a:srgbClr val="0891B2"/>
          </a:solidFill>
          <a:ln/>
        </p:spPr>
        <p:txBody>
          <a:bodyPr wrap="square" rtlCol="0" anchor="ctr"/>
          <a:lstStyle/>
          <a:p>
            <a:pPr marL="0" indent="0">
              <a:buNone/>
            </a:pPr>
            <a:endParaRPr lang="en-US" dirty="0"/>
          </a:p>
        </p:txBody>
      </p:sp>
      <p:sp>
        <p:nvSpPr>
          <p:cNvPr id="10" name="Text 8"/>
          <p:cNvSpPr/>
          <p:nvPr/>
        </p:nvSpPr>
        <p:spPr>
          <a:xfrm>
            <a:off x="4722019" y="1114425"/>
            <a:ext cx="3903202" cy="266700"/>
          </a:xfrm>
          <a:prstGeom prst="rect">
            <a:avLst/>
          </a:prstGeom>
          <a:noFill/>
          <a:ln/>
        </p:spPr>
        <p:txBody>
          <a:bodyPr wrap="square" lIns="0" tIns="0" rIns="0" bIns="0" rtlCol="0" anchor="t"/>
          <a:lstStyle/>
          <a:p>
            <a:pPr marL="0" indent="0" algn="l">
              <a:lnSpc>
                <a:spcPts val="2100"/>
              </a:lnSpc>
              <a:spcAft>
                <a:spcPts val="750"/>
              </a:spcAft>
              <a:buNone/>
            </a:pPr>
            <a:r>
              <a:rPr lang="en-US" sz="1350" b="1" dirty="0">
                <a:solidFill>
                  <a:srgbClr val="FFFFFF"/>
                </a:solidFill>
                <a:latin typeface="Arial" pitchFamily="34" charset="0"/>
                <a:ea typeface="Arial" pitchFamily="34" charset="-122"/>
                <a:cs typeface="Arial" pitchFamily="34" charset="-120"/>
              </a:rPr>
              <a:t>Data Optimization</a:t>
            </a:r>
            <a:endParaRPr lang="en-US" sz="1350" dirty="0"/>
          </a:p>
        </p:txBody>
      </p:sp>
      <p:sp>
        <p:nvSpPr>
          <p:cNvPr id="11" name="Text 9"/>
          <p:cNvSpPr/>
          <p:nvPr/>
        </p:nvSpPr>
        <p:spPr>
          <a:xfrm>
            <a:off x="4722019" y="1476375"/>
            <a:ext cx="3903202"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FFFFFF"/>
                </a:solidFill>
                <a:latin typeface="Arial" pitchFamily="34" charset="0"/>
                <a:ea typeface="Arial" pitchFamily="34" charset="-122"/>
                <a:cs typeface="Arial" pitchFamily="34" charset="-120"/>
              </a:rPr>
              <a:t>Unused Columns:</a:t>
            </a:r>
            <a:r>
              <a:rPr lang="en-US" sz="1050" dirty="0">
                <a:solidFill>
                  <a:srgbClr val="FFFFFF"/>
                </a:solidFill>
                <a:latin typeface="Arial" pitchFamily="34" charset="0"/>
                <a:ea typeface="Arial" pitchFamily="34" charset="-122"/>
                <a:cs typeface="Arial" pitchFamily="34" charset="-120"/>
              </a:rPr>
              <a:t> Removed for performance</a:t>
            </a:r>
            <a:endParaRPr lang="en-US" sz="1050" dirty="0"/>
          </a:p>
        </p:txBody>
      </p:sp>
      <p:sp>
        <p:nvSpPr>
          <p:cNvPr id="12" name="Text 10"/>
          <p:cNvSpPr/>
          <p:nvPr/>
        </p:nvSpPr>
        <p:spPr>
          <a:xfrm>
            <a:off x="4722019" y="1720155"/>
            <a:ext cx="3903202"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FFFFFF"/>
                </a:solidFill>
                <a:latin typeface="Arial" pitchFamily="34" charset="0"/>
                <a:ea typeface="Arial" pitchFamily="34" charset="-122"/>
                <a:cs typeface="Arial" pitchFamily="34" charset="-120"/>
              </a:rPr>
              <a:t>Categories:</a:t>
            </a:r>
            <a:r>
              <a:rPr lang="en-US" sz="1050" dirty="0">
                <a:solidFill>
                  <a:srgbClr val="FFFFFF"/>
                </a:solidFill>
                <a:latin typeface="Arial" pitchFamily="34" charset="0"/>
                <a:ea typeface="Arial" pitchFamily="34" charset="-122"/>
                <a:cs typeface="Arial" pitchFamily="34" charset="-120"/>
              </a:rPr>
              <a:t> Rare values grouped</a:t>
            </a:r>
            <a:endParaRPr lang="en-US" sz="1050" dirty="0"/>
          </a:p>
        </p:txBody>
      </p:sp>
      <p:sp>
        <p:nvSpPr>
          <p:cNvPr id="13" name="Text 11"/>
          <p:cNvSpPr/>
          <p:nvPr/>
        </p:nvSpPr>
        <p:spPr>
          <a:xfrm>
            <a:off x="4722019" y="1963936"/>
            <a:ext cx="3903202"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Refresh:</a:t>
            </a:r>
            <a:r>
              <a:rPr lang="en-US" sz="1050" dirty="0">
                <a:solidFill>
                  <a:srgbClr val="FFFFFF"/>
                </a:solidFill>
                <a:latin typeface="Arial" pitchFamily="34" charset="0"/>
                <a:ea typeface="Arial" pitchFamily="34" charset="-122"/>
                <a:cs typeface="Arial" pitchFamily="34" charset="-120"/>
              </a:rPr>
              <a:t> Optimized for fast loads</a:t>
            </a:r>
            <a:endParaRPr lang="en-US" sz="1050" dirty="0"/>
          </a:p>
        </p:txBody>
      </p:sp>
      <p:sp>
        <p:nvSpPr>
          <p:cNvPr id="14" name="Text 12"/>
          <p:cNvSpPr/>
          <p:nvPr/>
        </p:nvSpPr>
        <p:spPr>
          <a:xfrm>
            <a:off x="228600" y="2455366"/>
            <a:ext cx="8686800" cy="1476077"/>
          </a:xfrm>
          <a:prstGeom prst="roundRect">
            <a:avLst>
              <a:gd name="adj" fmla="val 5162"/>
            </a:avLst>
          </a:prstGeom>
          <a:solidFill>
            <a:srgbClr val="FFFFFF"/>
          </a:solidFill>
          <a:ln w="19050">
            <a:solidFill>
              <a:srgbClr val="CBD5E1"/>
            </a:solidFill>
          </a:ln>
        </p:spPr>
        <p:txBody>
          <a:bodyPr wrap="square" rtlCol="0" anchor="ctr"/>
          <a:lstStyle/>
          <a:p>
            <a:pPr marL="0" indent="0">
              <a:buNone/>
            </a:pPr>
            <a:endParaRPr lang="en-US" dirty="0"/>
          </a:p>
        </p:txBody>
      </p:sp>
      <p:sp>
        <p:nvSpPr>
          <p:cNvPr id="15" name="Text 13"/>
          <p:cNvSpPr/>
          <p:nvPr/>
        </p:nvSpPr>
        <p:spPr>
          <a:xfrm>
            <a:off x="419100" y="2645866"/>
            <a:ext cx="8471916" cy="266700"/>
          </a:xfrm>
          <a:prstGeom prst="rect">
            <a:avLst/>
          </a:prstGeom>
          <a:noFill/>
          <a:ln/>
        </p:spPr>
        <p:txBody>
          <a:bodyPr wrap="square" lIns="0" tIns="0" rIns="0" bIns="0" rtlCol="0" anchor="t"/>
          <a:lstStyle/>
          <a:p>
            <a:pPr marL="0" indent="0" algn="l">
              <a:lnSpc>
                <a:spcPts val="2100"/>
              </a:lnSpc>
              <a:spcAft>
                <a:spcPts val="900"/>
              </a:spcAft>
              <a:buNone/>
            </a:pPr>
            <a:r>
              <a:rPr lang="en-US" sz="1350" b="1" dirty="0">
                <a:solidFill>
                  <a:srgbClr val="0C4A6E"/>
                </a:solidFill>
                <a:latin typeface="Arial" pitchFamily="34" charset="0"/>
                <a:ea typeface="Arial" pitchFamily="34" charset="-122"/>
                <a:cs typeface="Arial" pitchFamily="34" charset="-120"/>
              </a:rPr>
              <a:t>Key Data Attributes</a:t>
            </a:r>
            <a:endParaRPr lang="en-US" sz="1350" dirty="0"/>
          </a:p>
        </p:txBody>
      </p:sp>
      <p:sp>
        <p:nvSpPr>
          <p:cNvPr id="16" name="Text 14"/>
          <p:cNvSpPr/>
          <p:nvPr/>
        </p:nvSpPr>
        <p:spPr>
          <a:xfrm>
            <a:off x="419100" y="3026866"/>
            <a:ext cx="2541514"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Hospital Info</a:t>
            </a:r>
            <a:endParaRPr lang="en-US" sz="900" dirty="0"/>
          </a:p>
        </p:txBody>
      </p:sp>
      <p:sp>
        <p:nvSpPr>
          <p:cNvPr id="17" name="Text 15"/>
          <p:cNvSpPr/>
          <p:nvPr/>
        </p:nvSpPr>
        <p:spPr>
          <a:xfrm>
            <a:off x="419100" y="324400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Hospital name &amp; ID</a:t>
            </a:r>
            <a:endParaRPr lang="en-US" sz="825" dirty="0"/>
          </a:p>
        </p:txBody>
      </p:sp>
      <p:sp>
        <p:nvSpPr>
          <p:cNvPr id="18" name="Text 16"/>
          <p:cNvSpPr/>
          <p:nvPr/>
        </p:nvSpPr>
        <p:spPr>
          <a:xfrm>
            <a:off x="419100" y="341917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Type &amp; ownership</a:t>
            </a:r>
            <a:endParaRPr lang="en-US" sz="825" dirty="0"/>
          </a:p>
        </p:txBody>
      </p:sp>
      <p:sp>
        <p:nvSpPr>
          <p:cNvPr id="19" name="Text 17"/>
          <p:cNvSpPr/>
          <p:nvPr/>
        </p:nvSpPr>
        <p:spPr>
          <a:xfrm>
            <a:off x="419100" y="3594348"/>
            <a:ext cx="2541514"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Geographic location</a:t>
            </a:r>
            <a:endParaRPr lang="en-US" sz="825" dirty="0"/>
          </a:p>
        </p:txBody>
      </p:sp>
      <p:sp>
        <p:nvSpPr>
          <p:cNvPr id="20" name="Text 18"/>
          <p:cNvSpPr/>
          <p:nvPr/>
        </p:nvSpPr>
        <p:spPr>
          <a:xfrm>
            <a:off x="3063180" y="3026866"/>
            <a:ext cx="2541514"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Performance Metrics</a:t>
            </a:r>
            <a:endParaRPr lang="en-US" sz="900" dirty="0"/>
          </a:p>
        </p:txBody>
      </p:sp>
      <p:sp>
        <p:nvSpPr>
          <p:cNvPr id="21" name="Text 19"/>
          <p:cNvSpPr/>
          <p:nvPr/>
        </p:nvSpPr>
        <p:spPr>
          <a:xfrm>
            <a:off x="3063180" y="324400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Overall rating (1-5)</a:t>
            </a:r>
            <a:endParaRPr lang="en-US" sz="825" dirty="0"/>
          </a:p>
        </p:txBody>
      </p:sp>
      <p:sp>
        <p:nvSpPr>
          <p:cNvPr id="22" name="Text 20"/>
          <p:cNvSpPr/>
          <p:nvPr/>
        </p:nvSpPr>
        <p:spPr>
          <a:xfrm>
            <a:off x="3063180" y="341917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Mortality scores</a:t>
            </a:r>
            <a:endParaRPr lang="en-US" sz="825" dirty="0"/>
          </a:p>
        </p:txBody>
      </p:sp>
      <p:sp>
        <p:nvSpPr>
          <p:cNvPr id="23" name="Text 21"/>
          <p:cNvSpPr/>
          <p:nvPr/>
        </p:nvSpPr>
        <p:spPr>
          <a:xfrm>
            <a:off x="3063180" y="3594348"/>
            <a:ext cx="2541514"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Safety measures</a:t>
            </a:r>
            <a:endParaRPr lang="en-US" sz="825" dirty="0"/>
          </a:p>
        </p:txBody>
      </p:sp>
      <p:sp>
        <p:nvSpPr>
          <p:cNvPr id="24" name="Text 22"/>
          <p:cNvSpPr/>
          <p:nvPr/>
        </p:nvSpPr>
        <p:spPr>
          <a:xfrm>
            <a:off x="5707261" y="3026866"/>
            <a:ext cx="2541514"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891B2"/>
                </a:solidFill>
                <a:latin typeface="Arial" pitchFamily="34" charset="0"/>
                <a:ea typeface="Arial" pitchFamily="34" charset="-122"/>
                <a:cs typeface="Arial" pitchFamily="34" charset="-120"/>
              </a:rPr>
              <a:t>Quality Indicators</a:t>
            </a:r>
            <a:endParaRPr lang="en-US" sz="900" dirty="0"/>
          </a:p>
        </p:txBody>
      </p:sp>
      <p:sp>
        <p:nvSpPr>
          <p:cNvPr id="25" name="Text 23"/>
          <p:cNvSpPr/>
          <p:nvPr/>
        </p:nvSpPr>
        <p:spPr>
          <a:xfrm>
            <a:off x="5707261" y="324400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Readmission rates</a:t>
            </a:r>
            <a:endParaRPr lang="en-US" sz="825" dirty="0"/>
          </a:p>
        </p:txBody>
      </p:sp>
      <p:sp>
        <p:nvSpPr>
          <p:cNvPr id="26" name="Text 24"/>
          <p:cNvSpPr/>
          <p:nvPr/>
        </p:nvSpPr>
        <p:spPr>
          <a:xfrm>
            <a:off x="5707261" y="3419177"/>
            <a:ext cx="2541514"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1E293B"/>
                </a:solidFill>
                <a:latin typeface="Arial" pitchFamily="34" charset="0"/>
                <a:ea typeface="Arial" pitchFamily="34" charset="-122"/>
                <a:cs typeface="Arial" pitchFamily="34" charset="-120"/>
              </a:rPr>
              <a:t>Patient experience</a:t>
            </a:r>
            <a:endParaRPr lang="en-US" sz="825" dirty="0"/>
          </a:p>
        </p:txBody>
      </p:sp>
      <p:sp>
        <p:nvSpPr>
          <p:cNvPr id="27" name="Text 25"/>
          <p:cNvSpPr/>
          <p:nvPr/>
        </p:nvSpPr>
        <p:spPr>
          <a:xfrm>
            <a:off x="5707261" y="3594348"/>
            <a:ext cx="2541514"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Timeliness scores</a:t>
            </a:r>
            <a:endParaRPr lang="en-US" sz="825" dirty="0"/>
          </a:p>
        </p:txBody>
      </p:sp>
      <p:sp>
        <p:nvSpPr>
          <p:cNvPr id="28" name="Text 26"/>
          <p:cNvSpPr/>
          <p:nvPr/>
        </p:nvSpPr>
        <p:spPr>
          <a:xfrm>
            <a:off x="228600" y="4064794"/>
            <a:ext cx="8686800" cy="438150"/>
          </a:xfrm>
          <a:prstGeom prst="roundRect">
            <a:avLst>
              <a:gd name="adj" fmla="val 13043"/>
            </a:avLst>
          </a:prstGeom>
          <a:solidFill>
            <a:srgbClr val="F1F5F9"/>
          </a:solidFill>
          <a:ln/>
        </p:spPr>
        <p:txBody>
          <a:bodyPr wrap="square" rtlCol="0" anchor="ctr"/>
          <a:lstStyle/>
          <a:p>
            <a:pPr marL="0" indent="0">
              <a:buNone/>
            </a:pPr>
            <a:endParaRPr lang="en-US" dirty="0"/>
          </a:p>
        </p:txBody>
      </p:sp>
      <p:sp>
        <p:nvSpPr>
          <p:cNvPr id="29" name="Text 27"/>
          <p:cNvSpPr/>
          <p:nvPr/>
        </p:nvSpPr>
        <p:spPr>
          <a:xfrm>
            <a:off x="361950" y="4198144"/>
            <a:ext cx="8588502" cy="171450"/>
          </a:xfrm>
          <a:prstGeom prst="rect">
            <a:avLst/>
          </a:prstGeom>
          <a:noFill/>
          <a:ln/>
        </p:spPr>
        <p:txBody>
          <a:bodyPr wrap="square" lIns="0" tIns="0" rIns="0" bIns="0" rtlCol="0" anchor="t"/>
          <a:lstStyle/>
          <a:p>
            <a:pPr marL="0" indent="0" algn="l">
              <a:lnSpc>
                <a:spcPts val="1350"/>
              </a:lnSpc>
              <a:buNone/>
            </a:pPr>
            <a:r>
              <a:rPr lang="en-US" sz="900" b="1" dirty="0">
                <a:solidFill>
                  <a:srgbClr val="334155"/>
                </a:solidFill>
                <a:latin typeface="Arial" pitchFamily="34" charset="0"/>
                <a:ea typeface="Arial" pitchFamily="34" charset="-122"/>
                <a:cs typeface="Arial" pitchFamily="34" charset="-120"/>
              </a:rPr>
              <a:t>Technical Approach:</a:t>
            </a:r>
            <a:r>
              <a:rPr lang="en-US" sz="900" dirty="0">
                <a:solidFill>
                  <a:srgbClr val="334155"/>
                </a:solidFill>
                <a:latin typeface="Arial" pitchFamily="34" charset="0"/>
                <a:ea typeface="Arial" pitchFamily="34" charset="-122"/>
                <a:cs typeface="Arial" pitchFamily="34" charset="-120"/>
              </a:rPr>
              <a:t> Power Query Editor used for all transformations with M language scripts for reproducibility and version control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4439984"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Star Schema &amp; Data Model</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1549896"/>
            <a:ext cx="4777680" cy="1253282"/>
          </a:xfrm>
          <a:prstGeom prst="roundRect">
            <a:avLst>
              <a:gd name="adj" fmla="val 6080"/>
            </a:avLst>
          </a:prstGeom>
          <a:solidFill>
            <a:srgbClr val="FFFFFF"/>
          </a:solidFill>
          <a:ln w="28575">
            <a:solidFill>
              <a:srgbClr val="0C4A6E"/>
            </a:solidFill>
          </a:ln>
        </p:spPr>
        <p:txBody>
          <a:bodyPr wrap="square" rtlCol="0" anchor="ctr"/>
          <a:lstStyle/>
          <a:p>
            <a:pPr marL="0" indent="0">
              <a:buNone/>
            </a:pPr>
            <a:endParaRPr lang="en-US" dirty="0"/>
          </a:p>
        </p:txBody>
      </p:sp>
      <p:sp>
        <p:nvSpPr>
          <p:cNvPr id="5" name="Text 3"/>
          <p:cNvSpPr/>
          <p:nvPr/>
        </p:nvSpPr>
        <p:spPr>
          <a:xfrm>
            <a:off x="404280" y="1768971"/>
            <a:ext cx="4426321" cy="173236"/>
          </a:xfrm>
          <a:prstGeom prst="rect">
            <a:avLst/>
          </a:prstGeom>
          <a:noFill/>
          <a:ln/>
        </p:spPr>
        <p:txBody>
          <a:bodyPr wrap="square" lIns="0" tIns="0" rIns="0" bIns="0" rtlCol="0" anchor="t"/>
          <a:lstStyle/>
          <a:p>
            <a:pPr marL="0" indent="0" algn="ctr">
              <a:lnSpc>
                <a:spcPts val="1365"/>
              </a:lnSpc>
              <a:spcAft>
                <a:spcPts val="900"/>
              </a:spcAft>
              <a:buNone/>
            </a:pPr>
            <a:r>
              <a:rPr lang="en-US" sz="975" b="1" dirty="0">
                <a:solidFill>
                  <a:srgbClr val="0C4A6E"/>
                </a:solidFill>
                <a:latin typeface="Arial" pitchFamily="34" charset="0"/>
                <a:ea typeface="Arial" pitchFamily="34" charset="-122"/>
                <a:cs typeface="Arial" pitchFamily="34" charset="-120"/>
              </a:rPr>
              <a:t>FACT TABLE</a:t>
            </a:r>
            <a:endParaRPr lang="en-US" sz="975" dirty="0"/>
          </a:p>
        </p:txBody>
      </p:sp>
      <p:sp>
        <p:nvSpPr>
          <p:cNvPr id="6" name="Text 4"/>
          <p:cNvSpPr/>
          <p:nvPr/>
        </p:nvSpPr>
        <p:spPr>
          <a:xfrm>
            <a:off x="404280" y="2056507"/>
            <a:ext cx="4426321" cy="304800"/>
          </a:xfrm>
          <a:prstGeom prst="rect">
            <a:avLst/>
          </a:prstGeom>
          <a:noFill/>
          <a:ln/>
        </p:spPr>
        <p:txBody>
          <a:bodyPr wrap="square" lIns="0" tIns="0" rIns="0" bIns="0" rtlCol="0" anchor="t"/>
          <a:lstStyle/>
          <a:p>
            <a:pPr marL="0" indent="0" algn="ctr">
              <a:lnSpc>
                <a:spcPts val="2400"/>
              </a:lnSpc>
              <a:spcAft>
                <a:spcPts val="600"/>
              </a:spcAft>
              <a:buNone/>
            </a:pPr>
            <a:r>
              <a:rPr lang="en-US" sz="1800" b="1" dirty="0">
                <a:solidFill>
                  <a:srgbClr val="0C4A6E"/>
                </a:solidFill>
                <a:latin typeface="Arial" pitchFamily="34" charset="0"/>
                <a:ea typeface="Arial" pitchFamily="34" charset="-122"/>
                <a:cs typeface="Arial" pitchFamily="34" charset="-120"/>
              </a:rPr>
              <a:t>Hospital</a:t>
            </a:r>
            <a:endParaRPr lang="en-US" sz="1800" dirty="0"/>
          </a:p>
        </p:txBody>
      </p:sp>
      <p:sp>
        <p:nvSpPr>
          <p:cNvPr id="7" name="Text 5"/>
          <p:cNvSpPr/>
          <p:nvPr/>
        </p:nvSpPr>
        <p:spPr>
          <a:xfrm>
            <a:off x="404280" y="2437507"/>
            <a:ext cx="4426321" cy="146596"/>
          </a:xfrm>
          <a:prstGeom prst="rect">
            <a:avLst/>
          </a:prstGeom>
          <a:noFill/>
          <a:ln/>
        </p:spPr>
        <p:txBody>
          <a:bodyPr wrap="square" lIns="0" tIns="0" rIns="0" bIns="0" rtlCol="0" anchor="t"/>
          <a:lstStyle/>
          <a:p>
            <a:pPr marL="0" indent="0" algn="ctr">
              <a:lnSpc>
                <a:spcPts val="1155"/>
              </a:lnSpc>
              <a:buNone/>
            </a:pPr>
            <a:r>
              <a:rPr lang="en-US" sz="825" dirty="0">
                <a:solidFill>
                  <a:srgbClr val="64748B"/>
                </a:solidFill>
                <a:latin typeface="Arial" pitchFamily="34" charset="0"/>
                <a:ea typeface="Arial" pitchFamily="34" charset="-122"/>
                <a:cs typeface="Arial" pitchFamily="34" charset="-120"/>
              </a:rPr>
              <a:t>Core metrics &amp; measures</a:t>
            </a:r>
            <a:endParaRPr lang="en-US" sz="825" dirty="0"/>
          </a:p>
        </p:txBody>
      </p:sp>
      <p:sp>
        <p:nvSpPr>
          <p:cNvPr id="8" name="Text 6"/>
          <p:cNvSpPr/>
          <p:nvPr/>
        </p:nvSpPr>
        <p:spPr>
          <a:xfrm>
            <a:off x="228600" y="2936528"/>
            <a:ext cx="2293144" cy="638026"/>
          </a:xfrm>
          <a:prstGeom prst="roundRect">
            <a:avLst>
              <a:gd name="adj" fmla="val 8957"/>
            </a:avLst>
          </a:prstGeom>
          <a:solidFill>
            <a:srgbClr val="0891B2"/>
          </a:solidFill>
          <a:ln/>
        </p:spPr>
        <p:txBody>
          <a:bodyPr wrap="square" rtlCol="0" anchor="ctr"/>
          <a:lstStyle/>
          <a:p>
            <a:pPr marL="0" indent="0">
              <a:buNone/>
            </a:pPr>
            <a:endParaRPr lang="en-US" dirty="0"/>
          </a:p>
        </p:txBody>
      </p:sp>
      <p:sp>
        <p:nvSpPr>
          <p:cNvPr id="9" name="Text 7"/>
          <p:cNvSpPr/>
          <p:nvPr/>
        </p:nvSpPr>
        <p:spPr>
          <a:xfrm>
            <a:off x="341686" y="3069878"/>
            <a:ext cx="2066973"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DIMENSION</a:t>
            </a:r>
            <a:endParaRPr lang="en-US" sz="825" dirty="0"/>
          </a:p>
        </p:txBody>
      </p:sp>
      <p:sp>
        <p:nvSpPr>
          <p:cNvPr id="10" name="Text 8"/>
          <p:cNvSpPr/>
          <p:nvPr/>
        </p:nvSpPr>
        <p:spPr>
          <a:xfrm>
            <a:off x="341686" y="3254573"/>
            <a:ext cx="2066973" cy="186630"/>
          </a:xfrm>
          <a:prstGeom prst="rect">
            <a:avLst/>
          </a:prstGeom>
          <a:noFill/>
          <a:ln/>
        </p:spPr>
        <p:txBody>
          <a:bodyPr wrap="square" lIns="0" tIns="0" rIns="0" bIns="0" rtlCol="0" anchor="t"/>
          <a:lstStyle/>
          <a:p>
            <a:pPr marL="0" indent="0" algn="ctr">
              <a:lnSpc>
                <a:spcPts val="1470"/>
              </a:lnSpc>
              <a:buNone/>
            </a:pPr>
            <a:r>
              <a:rPr lang="en-US" sz="1050" b="1" dirty="0">
                <a:solidFill>
                  <a:srgbClr val="FFFFFF"/>
                </a:solidFill>
                <a:latin typeface="Arial" pitchFamily="34" charset="0"/>
                <a:ea typeface="Arial" pitchFamily="34" charset="-122"/>
                <a:cs typeface="Arial" pitchFamily="34" charset="-120"/>
              </a:rPr>
              <a:t>State</a:t>
            </a:r>
            <a:endParaRPr lang="en-US" sz="1050" dirty="0"/>
          </a:p>
        </p:txBody>
      </p:sp>
      <p:sp>
        <p:nvSpPr>
          <p:cNvPr id="11" name="Text 9"/>
          <p:cNvSpPr/>
          <p:nvPr/>
        </p:nvSpPr>
        <p:spPr>
          <a:xfrm>
            <a:off x="2597944" y="2936528"/>
            <a:ext cx="2293144" cy="638026"/>
          </a:xfrm>
          <a:prstGeom prst="roundRect">
            <a:avLst>
              <a:gd name="adj" fmla="val 8957"/>
            </a:avLst>
          </a:prstGeom>
          <a:solidFill>
            <a:srgbClr val="0891B2"/>
          </a:solidFill>
          <a:ln/>
        </p:spPr>
        <p:txBody>
          <a:bodyPr wrap="square" rtlCol="0" anchor="ctr"/>
          <a:lstStyle/>
          <a:p>
            <a:pPr marL="0" indent="0">
              <a:buNone/>
            </a:pPr>
            <a:endParaRPr lang="en-US" dirty="0"/>
          </a:p>
        </p:txBody>
      </p:sp>
      <p:sp>
        <p:nvSpPr>
          <p:cNvPr id="12" name="Text 10"/>
          <p:cNvSpPr/>
          <p:nvPr/>
        </p:nvSpPr>
        <p:spPr>
          <a:xfrm>
            <a:off x="2711029" y="3069878"/>
            <a:ext cx="2066973"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DIMENSION</a:t>
            </a:r>
            <a:endParaRPr lang="en-US" sz="825" dirty="0"/>
          </a:p>
        </p:txBody>
      </p:sp>
      <p:sp>
        <p:nvSpPr>
          <p:cNvPr id="13" name="Text 11"/>
          <p:cNvSpPr/>
          <p:nvPr/>
        </p:nvSpPr>
        <p:spPr>
          <a:xfrm>
            <a:off x="2711029" y="3254573"/>
            <a:ext cx="2066973" cy="186630"/>
          </a:xfrm>
          <a:prstGeom prst="rect">
            <a:avLst/>
          </a:prstGeom>
          <a:noFill/>
          <a:ln/>
        </p:spPr>
        <p:txBody>
          <a:bodyPr wrap="square" lIns="0" tIns="0" rIns="0" bIns="0" rtlCol="0" anchor="t"/>
          <a:lstStyle/>
          <a:p>
            <a:pPr marL="0" indent="0" algn="ctr">
              <a:lnSpc>
                <a:spcPts val="1470"/>
              </a:lnSpc>
              <a:buNone/>
            </a:pPr>
            <a:r>
              <a:rPr lang="en-US" sz="1050" b="1" dirty="0">
                <a:solidFill>
                  <a:srgbClr val="FFFFFF"/>
                </a:solidFill>
                <a:latin typeface="Arial" pitchFamily="34" charset="0"/>
                <a:ea typeface="Arial" pitchFamily="34" charset="-122"/>
                <a:cs typeface="Arial" pitchFamily="34" charset="-120"/>
              </a:rPr>
              <a:t>Type</a:t>
            </a:r>
            <a:endParaRPr lang="en-US" sz="1050" dirty="0"/>
          </a:p>
        </p:txBody>
      </p:sp>
      <p:sp>
        <p:nvSpPr>
          <p:cNvPr id="14" name="Text 12"/>
          <p:cNvSpPr/>
          <p:nvPr/>
        </p:nvSpPr>
        <p:spPr>
          <a:xfrm>
            <a:off x="228600" y="3669804"/>
            <a:ext cx="2293144" cy="638026"/>
          </a:xfrm>
          <a:prstGeom prst="roundRect">
            <a:avLst>
              <a:gd name="adj" fmla="val 8957"/>
            </a:avLst>
          </a:prstGeom>
          <a:solidFill>
            <a:srgbClr val="0891B2"/>
          </a:solidFill>
          <a:ln/>
        </p:spPr>
        <p:txBody>
          <a:bodyPr wrap="square" rtlCol="0" anchor="ctr"/>
          <a:lstStyle/>
          <a:p>
            <a:pPr marL="0" indent="0">
              <a:buNone/>
            </a:pPr>
            <a:endParaRPr lang="en-US" dirty="0"/>
          </a:p>
        </p:txBody>
      </p:sp>
      <p:sp>
        <p:nvSpPr>
          <p:cNvPr id="15" name="Text 13"/>
          <p:cNvSpPr/>
          <p:nvPr/>
        </p:nvSpPr>
        <p:spPr>
          <a:xfrm>
            <a:off x="341686" y="3803154"/>
            <a:ext cx="2066973"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DIMENSION</a:t>
            </a:r>
            <a:endParaRPr lang="en-US" sz="825" dirty="0"/>
          </a:p>
        </p:txBody>
      </p:sp>
      <p:sp>
        <p:nvSpPr>
          <p:cNvPr id="16" name="Text 14"/>
          <p:cNvSpPr/>
          <p:nvPr/>
        </p:nvSpPr>
        <p:spPr>
          <a:xfrm>
            <a:off x="341686" y="3987850"/>
            <a:ext cx="2066973" cy="186630"/>
          </a:xfrm>
          <a:prstGeom prst="rect">
            <a:avLst/>
          </a:prstGeom>
          <a:noFill/>
          <a:ln/>
        </p:spPr>
        <p:txBody>
          <a:bodyPr wrap="square" lIns="0" tIns="0" rIns="0" bIns="0" rtlCol="0" anchor="t"/>
          <a:lstStyle/>
          <a:p>
            <a:pPr marL="0" indent="0" algn="ctr">
              <a:lnSpc>
                <a:spcPts val="1470"/>
              </a:lnSpc>
              <a:buNone/>
            </a:pPr>
            <a:r>
              <a:rPr lang="en-US" sz="1050" b="1" dirty="0">
                <a:solidFill>
                  <a:srgbClr val="FFFFFF"/>
                </a:solidFill>
                <a:latin typeface="Arial" pitchFamily="34" charset="0"/>
                <a:ea typeface="Arial" pitchFamily="34" charset="-122"/>
                <a:cs typeface="Arial" pitchFamily="34" charset="-120"/>
              </a:rPr>
              <a:t>Ownership</a:t>
            </a:r>
            <a:endParaRPr lang="en-US" sz="1050" dirty="0"/>
          </a:p>
        </p:txBody>
      </p:sp>
      <p:sp>
        <p:nvSpPr>
          <p:cNvPr id="17" name="Text 15"/>
          <p:cNvSpPr/>
          <p:nvPr/>
        </p:nvSpPr>
        <p:spPr>
          <a:xfrm>
            <a:off x="2597944" y="3669804"/>
            <a:ext cx="2293144" cy="638026"/>
          </a:xfrm>
          <a:prstGeom prst="roundRect">
            <a:avLst>
              <a:gd name="adj" fmla="val 8957"/>
            </a:avLst>
          </a:prstGeom>
          <a:solidFill>
            <a:srgbClr val="334155"/>
          </a:solidFill>
          <a:ln/>
        </p:spPr>
        <p:txBody>
          <a:bodyPr wrap="square" rtlCol="0" anchor="ctr"/>
          <a:lstStyle/>
          <a:p>
            <a:pPr marL="0" indent="0">
              <a:buNone/>
            </a:pPr>
            <a:endParaRPr lang="en-US" dirty="0"/>
          </a:p>
        </p:txBody>
      </p:sp>
      <p:sp>
        <p:nvSpPr>
          <p:cNvPr id="18" name="Text 16"/>
          <p:cNvSpPr/>
          <p:nvPr/>
        </p:nvSpPr>
        <p:spPr>
          <a:xfrm>
            <a:off x="2711029" y="3803154"/>
            <a:ext cx="2066973"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LOOKUP</a:t>
            </a:r>
            <a:endParaRPr lang="en-US" sz="825" dirty="0"/>
          </a:p>
        </p:txBody>
      </p:sp>
      <p:sp>
        <p:nvSpPr>
          <p:cNvPr id="19" name="Text 17"/>
          <p:cNvSpPr/>
          <p:nvPr/>
        </p:nvSpPr>
        <p:spPr>
          <a:xfrm>
            <a:off x="2711029" y="3987850"/>
            <a:ext cx="2066973" cy="186630"/>
          </a:xfrm>
          <a:prstGeom prst="rect">
            <a:avLst/>
          </a:prstGeom>
          <a:noFill/>
          <a:ln/>
        </p:spPr>
        <p:txBody>
          <a:bodyPr wrap="square" lIns="0" tIns="0" rIns="0" bIns="0" rtlCol="0" anchor="t"/>
          <a:lstStyle/>
          <a:p>
            <a:pPr marL="0" indent="0" algn="ctr">
              <a:lnSpc>
                <a:spcPts val="1470"/>
              </a:lnSpc>
              <a:buNone/>
            </a:pPr>
            <a:r>
              <a:rPr lang="en-US" sz="1050" b="1" dirty="0">
                <a:solidFill>
                  <a:srgbClr val="FFFFFF"/>
                </a:solidFill>
                <a:latin typeface="Arial" pitchFamily="34" charset="0"/>
                <a:ea typeface="Arial" pitchFamily="34" charset="-122"/>
                <a:cs typeface="Arial" pitchFamily="34" charset="-120"/>
              </a:rPr>
              <a:t>Rating</a:t>
            </a:r>
            <a:endParaRPr lang="en-US" sz="1050" dirty="0"/>
          </a:p>
        </p:txBody>
      </p:sp>
      <p:sp>
        <p:nvSpPr>
          <p:cNvPr id="20" name="Text 18"/>
          <p:cNvSpPr/>
          <p:nvPr/>
        </p:nvSpPr>
        <p:spPr>
          <a:xfrm>
            <a:off x="5158680" y="1458516"/>
            <a:ext cx="3721340" cy="266700"/>
          </a:xfrm>
          <a:prstGeom prst="rect">
            <a:avLst/>
          </a:prstGeom>
          <a:noFill/>
          <a:ln/>
        </p:spPr>
        <p:txBody>
          <a:bodyPr wrap="square" lIns="0" tIns="0" rIns="0" bIns="0" rtlCol="0" anchor="t"/>
          <a:lstStyle/>
          <a:p>
            <a:pPr marL="0" indent="0" algn="l">
              <a:lnSpc>
                <a:spcPts val="2100"/>
              </a:lnSpc>
              <a:spcAft>
                <a:spcPts val="750"/>
              </a:spcAft>
              <a:buNone/>
            </a:pPr>
            <a:r>
              <a:rPr lang="en-US" sz="1350" b="1" dirty="0">
                <a:solidFill>
                  <a:srgbClr val="0C4A6E"/>
                </a:solidFill>
                <a:latin typeface="Arial" pitchFamily="34" charset="0"/>
                <a:ea typeface="Arial" pitchFamily="34" charset="-122"/>
                <a:cs typeface="Arial" pitchFamily="34" charset="-120"/>
              </a:rPr>
              <a:t>Model Benefits</a:t>
            </a:r>
            <a:endParaRPr lang="en-US" sz="1350" dirty="0"/>
          </a:p>
        </p:txBody>
      </p:sp>
      <p:sp>
        <p:nvSpPr>
          <p:cNvPr id="21" name="Text 19"/>
          <p:cNvSpPr/>
          <p:nvPr/>
        </p:nvSpPr>
        <p:spPr>
          <a:xfrm>
            <a:off x="5158680" y="1820466"/>
            <a:ext cx="3648373" cy="573286"/>
          </a:xfrm>
          <a:prstGeom prst="roundRect">
            <a:avLst>
              <a:gd name="adj" fmla="val 6646"/>
            </a:avLst>
          </a:prstGeom>
          <a:solidFill>
            <a:srgbClr val="ECFDF5"/>
          </a:solidFill>
          <a:ln/>
        </p:spPr>
        <p:txBody>
          <a:bodyPr wrap="square" rtlCol="0" anchor="ctr"/>
          <a:lstStyle/>
          <a:p>
            <a:pPr marL="0" indent="0">
              <a:buNone/>
            </a:pPr>
            <a:endParaRPr lang="en-US" dirty="0"/>
          </a:p>
        </p:txBody>
      </p:sp>
      <p:sp>
        <p:nvSpPr>
          <p:cNvPr id="22" name="Shape 20"/>
          <p:cNvSpPr/>
          <p:nvPr/>
        </p:nvSpPr>
        <p:spPr>
          <a:xfrm>
            <a:off x="5177730" y="1820466"/>
            <a:ext cx="0" cy="573286"/>
          </a:xfrm>
          <a:prstGeom prst="line">
            <a:avLst/>
          </a:prstGeom>
          <a:noFill/>
          <a:ln w="38100">
            <a:solidFill>
              <a:srgbClr val="0891B2"/>
            </a:solidFill>
            <a:prstDash val="solid"/>
          </a:ln>
        </p:spPr>
      </p:sp>
      <p:sp>
        <p:nvSpPr>
          <p:cNvPr id="23" name="Text 21"/>
          <p:cNvSpPr/>
          <p:nvPr/>
        </p:nvSpPr>
        <p:spPr>
          <a:xfrm>
            <a:off x="5311080" y="1934766"/>
            <a:ext cx="344930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Fast Query Performance</a:t>
            </a:r>
            <a:endParaRPr lang="en-US" sz="900" dirty="0"/>
          </a:p>
        </p:txBody>
      </p:sp>
      <p:sp>
        <p:nvSpPr>
          <p:cNvPr id="24" name="Text 22"/>
          <p:cNvSpPr/>
          <p:nvPr/>
        </p:nvSpPr>
        <p:spPr>
          <a:xfrm>
            <a:off x="5311080" y="2132856"/>
            <a:ext cx="3449306"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Optimized relationships reduce calculation time</a:t>
            </a:r>
            <a:endParaRPr lang="en-US" sz="825" dirty="0"/>
          </a:p>
        </p:txBody>
      </p:sp>
      <p:sp>
        <p:nvSpPr>
          <p:cNvPr id="25" name="Text 23"/>
          <p:cNvSpPr/>
          <p:nvPr/>
        </p:nvSpPr>
        <p:spPr>
          <a:xfrm>
            <a:off x="5158680" y="2489002"/>
            <a:ext cx="3648373" cy="573286"/>
          </a:xfrm>
          <a:prstGeom prst="roundRect">
            <a:avLst>
              <a:gd name="adj" fmla="val 6646"/>
            </a:avLst>
          </a:prstGeom>
          <a:solidFill>
            <a:srgbClr val="ECFDF5"/>
          </a:solidFill>
          <a:ln/>
        </p:spPr>
        <p:txBody>
          <a:bodyPr wrap="square" rtlCol="0" anchor="ctr"/>
          <a:lstStyle/>
          <a:p>
            <a:pPr marL="0" indent="0">
              <a:buNone/>
            </a:pPr>
            <a:endParaRPr lang="en-US" dirty="0"/>
          </a:p>
        </p:txBody>
      </p:sp>
      <p:sp>
        <p:nvSpPr>
          <p:cNvPr id="26" name="Shape 24"/>
          <p:cNvSpPr/>
          <p:nvPr/>
        </p:nvSpPr>
        <p:spPr>
          <a:xfrm>
            <a:off x="5177730" y="2489002"/>
            <a:ext cx="0" cy="573286"/>
          </a:xfrm>
          <a:prstGeom prst="line">
            <a:avLst/>
          </a:prstGeom>
          <a:noFill/>
          <a:ln w="38100">
            <a:solidFill>
              <a:srgbClr val="0891B2"/>
            </a:solidFill>
            <a:prstDash val="solid"/>
          </a:ln>
        </p:spPr>
      </p:sp>
      <p:sp>
        <p:nvSpPr>
          <p:cNvPr id="27" name="Text 25"/>
          <p:cNvSpPr/>
          <p:nvPr/>
        </p:nvSpPr>
        <p:spPr>
          <a:xfrm>
            <a:off x="5311080" y="2603302"/>
            <a:ext cx="344930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Simplified DAX</a:t>
            </a:r>
            <a:endParaRPr lang="en-US" sz="900" dirty="0"/>
          </a:p>
        </p:txBody>
      </p:sp>
      <p:sp>
        <p:nvSpPr>
          <p:cNvPr id="28" name="Text 26"/>
          <p:cNvSpPr/>
          <p:nvPr/>
        </p:nvSpPr>
        <p:spPr>
          <a:xfrm>
            <a:off x="5311080" y="2801392"/>
            <a:ext cx="3449306"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Clear relationships enable intuitive measure creation</a:t>
            </a:r>
            <a:endParaRPr lang="en-US" sz="825" dirty="0"/>
          </a:p>
        </p:txBody>
      </p:sp>
      <p:sp>
        <p:nvSpPr>
          <p:cNvPr id="29" name="Text 27"/>
          <p:cNvSpPr/>
          <p:nvPr/>
        </p:nvSpPr>
        <p:spPr>
          <a:xfrm>
            <a:off x="5158680" y="3157538"/>
            <a:ext cx="3648373" cy="573286"/>
          </a:xfrm>
          <a:prstGeom prst="roundRect">
            <a:avLst>
              <a:gd name="adj" fmla="val 6646"/>
            </a:avLst>
          </a:prstGeom>
          <a:solidFill>
            <a:srgbClr val="ECFDF5"/>
          </a:solidFill>
          <a:ln/>
        </p:spPr>
        <p:txBody>
          <a:bodyPr wrap="square" rtlCol="0" anchor="ctr"/>
          <a:lstStyle/>
          <a:p>
            <a:pPr marL="0" indent="0">
              <a:buNone/>
            </a:pPr>
            <a:endParaRPr lang="en-US" dirty="0"/>
          </a:p>
        </p:txBody>
      </p:sp>
      <p:sp>
        <p:nvSpPr>
          <p:cNvPr id="30" name="Shape 28"/>
          <p:cNvSpPr/>
          <p:nvPr/>
        </p:nvSpPr>
        <p:spPr>
          <a:xfrm>
            <a:off x="5177730" y="3157538"/>
            <a:ext cx="0" cy="573286"/>
          </a:xfrm>
          <a:prstGeom prst="line">
            <a:avLst/>
          </a:prstGeom>
          <a:noFill/>
          <a:ln w="38100">
            <a:solidFill>
              <a:srgbClr val="0891B2"/>
            </a:solidFill>
            <a:prstDash val="solid"/>
          </a:ln>
        </p:spPr>
      </p:sp>
      <p:sp>
        <p:nvSpPr>
          <p:cNvPr id="31" name="Text 29"/>
          <p:cNvSpPr/>
          <p:nvPr/>
        </p:nvSpPr>
        <p:spPr>
          <a:xfrm>
            <a:off x="5311080" y="3271838"/>
            <a:ext cx="344930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Scalability</a:t>
            </a:r>
            <a:endParaRPr lang="en-US" sz="900" dirty="0"/>
          </a:p>
        </p:txBody>
      </p:sp>
      <p:sp>
        <p:nvSpPr>
          <p:cNvPr id="32" name="Text 30"/>
          <p:cNvSpPr/>
          <p:nvPr/>
        </p:nvSpPr>
        <p:spPr>
          <a:xfrm>
            <a:off x="5311080" y="3469928"/>
            <a:ext cx="3449306"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Easy to add new dimensions without restructuring</a:t>
            </a:r>
            <a:endParaRPr lang="en-US" sz="825" dirty="0"/>
          </a:p>
        </p:txBody>
      </p:sp>
      <p:sp>
        <p:nvSpPr>
          <p:cNvPr id="33" name="Text 31"/>
          <p:cNvSpPr/>
          <p:nvPr/>
        </p:nvSpPr>
        <p:spPr>
          <a:xfrm>
            <a:off x="5158680" y="3826073"/>
            <a:ext cx="3648373" cy="573286"/>
          </a:xfrm>
          <a:prstGeom prst="roundRect">
            <a:avLst>
              <a:gd name="adj" fmla="val 6646"/>
            </a:avLst>
          </a:prstGeom>
          <a:solidFill>
            <a:srgbClr val="ECFDF5"/>
          </a:solidFill>
          <a:ln/>
        </p:spPr>
        <p:txBody>
          <a:bodyPr wrap="square" rtlCol="0" anchor="ctr"/>
          <a:lstStyle/>
          <a:p>
            <a:pPr marL="0" indent="0">
              <a:buNone/>
            </a:pPr>
            <a:endParaRPr lang="en-US" dirty="0"/>
          </a:p>
        </p:txBody>
      </p:sp>
      <p:sp>
        <p:nvSpPr>
          <p:cNvPr id="34" name="Shape 32"/>
          <p:cNvSpPr/>
          <p:nvPr/>
        </p:nvSpPr>
        <p:spPr>
          <a:xfrm>
            <a:off x="5177730" y="3826073"/>
            <a:ext cx="0" cy="573286"/>
          </a:xfrm>
          <a:prstGeom prst="line">
            <a:avLst/>
          </a:prstGeom>
          <a:noFill/>
          <a:ln w="38100">
            <a:solidFill>
              <a:srgbClr val="0891B2"/>
            </a:solidFill>
            <a:prstDash val="solid"/>
          </a:ln>
        </p:spPr>
      </p:sp>
      <p:sp>
        <p:nvSpPr>
          <p:cNvPr id="35" name="Text 33"/>
          <p:cNvSpPr/>
          <p:nvPr/>
        </p:nvSpPr>
        <p:spPr>
          <a:xfrm>
            <a:off x="5311080" y="3940373"/>
            <a:ext cx="344930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Maintainability</a:t>
            </a:r>
            <a:endParaRPr lang="en-US" sz="900" dirty="0"/>
          </a:p>
        </p:txBody>
      </p:sp>
      <p:sp>
        <p:nvSpPr>
          <p:cNvPr id="36" name="Text 34"/>
          <p:cNvSpPr/>
          <p:nvPr/>
        </p:nvSpPr>
        <p:spPr>
          <a:xfrm>
            <a:off x="5311080" y="4138464"/>
            <a:ext cx="3449306"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Centralized fact table with clear dimension links</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4439984"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What-If Scenario Analysis</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1042392"/>
            <a:ext cx="4169569" cy="2437805"/>
          </a:xfrm>
          <a:prstGeom prst="roundRect">
            <a:avLst>
              <a:gd name="adj" fmla="val 3126"/>
            </a:avLst>
          </a:prstGeom>
          <a:solidFill>
            <a:srgbClr val="0C4A6E"/>
          </a:solidFill>
          <a:ln/>
        </p:spPr>
        <p:txBody>
          <a:bodyPr wrap="square" rtlCol="0" anchor="ctr"/>
          <a:lstStyle/>
          <a:p>
            <a:pPr marL="0" indent="0">
              <a:buNone/>
            </a:pPr>
            <a:endParaRPr lang="en-US" dirty="0"/>
          </a:p>
        </p:txBody>
      </p:sp>
      <p:sp>
        <p:nvSpPr>
          <p:cNvPr id="5" name="Text 3"/>
          <p:cNvSpPr/>
          <p:nvPr/>
        </p:nvSpPr>
        <p:spPr>
          <a:xfrm>
            <a:off x="419100" y="1232892"/>
            <a:ext cx="3864340" cy="266700"/>
          </a:xfrm>
          <a:prstGeom prst="rect">
            <a:avLst/>
          </a:prstGeom>
          <a:noFill/>
          <a:ln/>
        </p:spPr>
        <p:txBody>
          <a:bodyPr wrap="square" lIns="0" tIns="0" rIns="0" bIns="0" rtlCol="0" anchor="t"/>
          <a:lstStyle/>
          <a:p>
            <a:pPr marL="0" indent="0" algn="l">
              <a:lnSpc>
                <a:spcPts val="2100"/>
              </a:lnSpc>
              <a:spcAft>
                <a:spcPts val="750"/>
              </a:spcAft>
              <a:buNone/>
            </a:pPr>
            <a:r>
              <a:rPr lang="en-US" sz="1500" b="1" dirty="0">
                <a:solidFill>
                  <a:srgbClr val="FFFFFF"/>
                </a:solidFill>
                <a:latin typeface="Arial" pitchFamily="34" charset="0"/>
                <a:ea typeface="Arial" pitchFamily="34" charset="-122"/>
                <a:cs typeface="Arial" pitchFamily="34" charset="-120"/>
              </a:rPr>
              <a:t>Interactive Sliders</a:t>
            </a:r>
            <a:endParaRPr lang="en-US" sz="1500" dirty="0"/>
          </a:p>
        </p:txBody>
      </p:sp>
      <p:sp>
        <p:nvSpPr>
          <p:cNvPr id="6" name="Text 4"/>
          <p:cNvSpPr/>
          <p:nvPr/>
        </p:nvSpPr>
        <p:spPr>
          <a:xfrm>
            <a:off x="419100" y="1594842"/>
            <a:ext cx="3788569" cy="790277"/>
          </a:xfrm>
          <a:prstGeom prst="roundRect">
            <a:avLst>
              <a:gd name="adj" fmla="val 7232"/>
            </a:avLst>
          </a:prstGeom>
          <a:solidFill>
            <a:srgbClr val="FFFFFF">
              <a:alpha val="15000"/>
            </a:srgbClr>
          </a:solidFill>
          <a:ln/>
        </p:spPr>
        <p:txBody>
          <a:bodyPr wrap="square" rtlCol="0" anchor="ctr"/>
          <a:lstStyle/>
          <a:p>
            <a:pPr marL="0" indent="0">
              <a:buNone/>
            </a:pPr>
            <a:endParaRPr lang="en-US" dirty="0"/>
          </a:p>
        </p:txBody>
      </p:sp>
      <p:sp>
        <p:nvSpPr>
          <p:cNvPr id="7" name="Text 5"/>
          <p:cNvSpPr/>
          <p:nvPr/>
        </p:nvSpPr>
        <p:spPr>
          <a:xfrm>
            <a:off x="552450" y="1728192"/>
            <a:ext cx="3592306"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FFFFFF"/>
                </a:solidFill>
                <a:latin typeface="Arial" pitchFamily="34" charset="0"/>
                <a:ea typeface="Arial" pitchFamily="34" charset="-122"/>
                <a:cs typeface="Arial" pitchFamily="34" charset="-120"/>
              </a:rPr>
              <a:t>Rating Threshold Slider</a:t>
            </a:r>
            <a:endParaRPr lang="en-US" sz="975" dirty="0"/>
          </a:p>
        </p:txBody>
      </p:sp>
      <p:sp>
        <p:nvSpPr>
          <p:cNvPr id="8" name="Text 6"/>
          <p:cNvSpPr/>
          <p:nvPr/>
        </p:nvSpPr>
        <p:spPr>
          <a:xfrm>
            <a:off x="552450" y="1958578"/>
            <a:ext cx="3592306" cy="293191"/>
          </a:xfrm>
          <a:prstGeom prst="rect">
            <a:avLst/>
          </a:prstGeom>
          <a:noFill/>
          <a:ln/>
        </p:spPr>
        <p:txBody>
          <a:bodyPr wrap="square" lIns="0" tIns="0" rIns="0" bIns="0" rtlCol="0" anchor="t"/>
          <a:lstStyle/>
          <a:p>
            <a:pPr marL="0" indent="0" algn="l">
              <a:lnSpc>
                <a:spcPts val="1155"/>
              </a:lnSpc>
              <a:buNone/>
            </a:pPr>
            <a:r>
              <a:rPr lang="en-US" sz="825" dirty="0">
                <a:solidFill>
                  <a:srgbClr val="FFFFFF"/>
                </a:solidFill>
                <a:latin typeface="Arial" pitchFamily="34" charset="0"/>
                <a:ea typeface="Arial" pitchFamily="34" charset="-122"/>
                <a:cs typeface="Arial" pitchFamily="34" charset="-120"/>
              </a:rPr>
              <a:t>Dynamically adjust what qualifies as "High-Performing" (e.g., 3+ stars, 4+ stars, or 5 stars only)</a:t>
            </a:r>
            <a:endParaRPr lang="en-US" sz="825" dirty="0"/>
          </a:p>
        </p:txBody>
      </p:sp>
      <p:sp>
        <p:nvSpPr>
          <p:cNvPr id="9" name="Text 7"/>
          <p:cNvSpPr/>
          <p:nvPr/>
        </p:nvSpPr>
        <p:spPr>
          <a:xfrm>
            <a:off x="419100" y="2499420"/>
            <a:ext cx="3788569" cy="790277"/>
          </a:xfrm>
          <a:prstGeom prst="roundRect">
            <a:avLst>
              <a:gd name="adj" fmla="val 7232"/>
            </a:avLst>
          </a:prstGeom>
          <a:solidFill>
            <a:srgbClr val="FFFFFF">
              <a:alpha val="15000"/>
            </a:srgbClr>
          </a:solidFill>
          <a:ln/>
        </p:spPr>
        <p:txBody>
          <a:bodyPr wrap="square" rtlCol="0" anchor="ctr"/>
          <a:lstStyle/>
          <a:p>
            <a:pPr marL="0" indent="0">
              <a:buNone/>
            </a:pPr>
            <a:endParaRPr lang="en-US" dirty="0"/>
          </a:p>
        </p:txBody>
      </p:sp>
      <p:sp>
        <p:nvSpPr>
          <p:cNvPr id="10" name="Text 8"/>
          <p:cNvSpPr/>
          <p:nvPr/>
        </p:nvSpPr>
        <p:spPr>
          <a:xfrm>
            <a:off x="552450" y="2632770"/>
            <a:ext cx="3592306"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FFFFFF"/>
                </a:solidFill>
                <a:latin typeface="Arial" pitchFamily="34" charset="0"/>
                <a:ea typeface="Arial" pitchFamily="34" charset="-122"/>
                <a:cs typeface="Arial" pitchFamily="34" charset="-120"/>
              </a:rPr>
              <a:t>Measure Improvement Slider</a:t>
            </a:r>
            <a:endParaRPr lang="en-US" sz="975" dirty="0"/>
          </a:p>
        </p:txBody>
      </p:sp>
      <p:sp>
        <p:nvSpPr>
          <p:cNvPr id="11" name="Text 9"/>
          <p:cNvSpPr/>
          <p:nvPr/>
        </p:nvSpPr>
        <p:spPr>
          <a:xfrm>
            <a:off x="552450" y="2863155"/>
            <a:ext cx="3592306" cy="293191"/>
          </a:xfrm>
          <a:prstGeom prst="rect">
            <a:avLst/>
          </a:prstGeom>
          <a:noFill/>
          <a:ln/>
        </p:spPr>
        <p:txBody>
          <a:bodyPr wrap="square" lIns="0" tIns="0" rIns="0" bIns="0" rtlCol="0" anchor="t"/>
          <a:lstStyle/>
          <a:p>
            <a:pPr marL="0" indent="0" algn="l">
              <a:lnSpc>
                <a:spcPts val="1155"/>
              </a:lnSpc>
              <a:buNone/>
            </a:pPr>
            <a:r>
              <a:rPr lang="en-US" sz="825" dirty="0">
                <a:solidFill>
                  <a:srgbClr val="FFFFFF"/>
                </a:solidFill>
                <a:latin typeface="Arial" pitchFamily="34" charset="0"/>
                <a:ea typeface="Arial" pitchFamily="34" charset="-122"/>
                <a:cs typeface="Arial" pitchFamily="34" charset="-120"/>
              </a:rPr>
              <a:t>Simulate percentage of "Worse" measures shifting to "No Different/Better" status</a:t>
            </a:r>
            <a:endParaRPr lang="en-US" sz="825" dirty="0"/>
          </a:p>
        </p:txBody>
      </p:sp>
      <p:sp>
        <p:nvSpPr>
          <p:cNvPr id="12" name="Text 10"/>
          <p:cNvSpPr/>
          <p:nvPr/>
        </p:nvSpPr>
        <p:spPr>
          <a:xfrm>
            <a:off x="228600" y="3613547"/>
            <a:ext cx="4169569" cy="1201787"/>
          </a:xfrm>
          <a:prstGeom prst="roundRect">
            <a:avLst>
              <a:gd name="adj" fmla="val 6341"/>
            </a:avLst>
          </a:prstGeom>
          <a:solidFill>
            <a:srgbClr val="FFFFFF"/>
          </a:solidFill>
          <a:ln w="19050">
            <a:solidFill>
              <a:srgbClr val="0891B2"/>
            </a:solidFill>
          </a:ln>
        </p:spPr>
        <p:txBody>
          <a:bodyPr wrap="square" rtlCol="0" anchor="ctr"/>
          <a:lstStyle/>
          <a:p>
            <a:pPr marL="0" indent="0">
              <a:buNone/>
            </a:pPr>
            <a:endParaRPr lang="en-US" dirty="0"/>
          </a:p>
        </p:txBody>
      </p:sp>
      <p:sp>
        <p:nvSpPr>
          <p:cNvPr id="13" name="Text 11"/>
          <p:cNvSpPr/>
          <p:nvPr/>
        </p:nvSpPr>
        <p:spPr>
          <a:xfrm>
            <a:off x="400050" y="3784997"/>
            <a:ext cx="3903202" cy="228600"/>
          </a:xfrm>
          <a:prstGeom prst="rect">
            <a:avLst/>
          </a:prstGeom>
          <a:noFill/>
          <a:ln/>
        </p:spPr>
        <p:txBody>
          <a:bodyPr wrap="square" lIns="0" tIns="0" rIns="0" bIns="0" rtlCol="0" anchor="t"/>
          <a:lstStyle/>
          <a:p>
            <a:pPr marL="0" indent="0" algn="l">
              <a:lnSpc>
                <a:spcPts val="1800"/>
              </a:lnSpc>
              <a:spcAft>
                <a:spcPts val="600"/>
              </a:spcAft>
              <a:buNone/>
            </a:pPr>
            <a:r>
              <a:rPr lang="en-US" sz="1200" b="1" dirty="0">
                <a:solidFill>
                  <a:srgbClr val="0C4A6E"/>
                </a:solidFill>
                <a:latin typeface="Arial" pitchFamily="34" charset="0"/>
                <a:ea typeface="Arial" pitchFamily="34" charset="-122"/>
                <a:cs typeface="Arial" pitchFamily="34" charset="-120"/>
              </a:rPr>
              <a:t>Real-Time Impact</a:t>
            </a:r>
            <a:endParaRPr lang="en-US" sz="1200" dirty="0"/>
          </a:p>
        </p:txBody>
      </p:sp>
      <p:sp>
        <p:nvSpPr>
          <p:cNvPr id="14" name="Text 12"/>
          <p:cNvSpPr/>
          <p:nvPr/>
        </p:nvSpPr>
        <p:spPr>
          <a:xfrm>
            <a:off x="400050" y="4089797"/>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1E293B"/>
                </a:solidFill>
                <a:latin typeface="Arial" pitchFamily="34" charset="0"/>
                <a:ea typeface="Arial" pitchFamily="34" charset="-122"/>
                <a:cs typeface="Arial" pitchFamily="34" charset="-120"/>
              </a:rPr>
              <a:t>% High-Performing KPI updates instantly</a:t>
            </a:r>
            <a:endParaRPr lang="en-US" sz="825" dirty="0"/>
          </a:p>
        </p:txBody>
      </p:sp>
      <p:sp>
        <p:nvSpPr>
          <p:cNvPr id="15" name="Text 13"/>
          <p:cNvSpPr/>
          <p:nvPr/>
        </p:nvSpPr>
        <p:spPr>
          <a:xfrm>
            <a:off x="400050" y="4293543"/>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1E293B"/>
                </a:solidFill>
                <a:latin typeface="Arial" pitchFamily="34" charset="0"/>
                <a:ea typeface="Arial" pitchFamily="34" charset="-122"/>
                <a:cs typeface="Arial" pitchFamily="34" charset="-120"/>
              </a:rPr>
              <a:t>Line chart shows projected improvement</a:t>
            </a:r>
            <a:endParaRPr lang="en-US" sz="825" dirty="0"/>
          </a:p>
        </p:txBody>
      </p:sp>
      <p:sp>
        <p:nvSpPr>
          <p:cNvPr id="16" name="Text 14"/>
          <p:cNvSpPr/>
          <p:nvPr/>
        </p:nvSpPr>
        <p:spPr>
          <a:xfrm>
            <a:off x="400050" y="4497288"/>
            <a:ext cx="3903202"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All visuals recalculate automatically</a:t>
            </a:r>
            <a:endParaRPr lang="en-US" sz="825" dirty="0"/>
          </a:p>
        </p:txBody>
      </p:sp>
      <p:sp>
        <p:nvSpPr>
          <p:cNvPr id="17" name="Text 15"/>
          <p:cNvSpPr/>
          <p:nvPr/>
        </p:nvSpPr>
        <p:spPr>
          <a:xfrm>
            <a:off x="4550569" y="1235720"/>
            <a:ext cx="4252960" cy="266700"/>
          </a:xfrm>
          <a:prstGeom prst="rect">
            <a:avLst/>
          </a:prstGeom>
          <a:noFill/>
          <a:ln/>
        </p:spPr>
        <p:txBody>
          <a:bodyPr wrap="square" lIns="0" tIns="0" rIns="0" bIns="0" rtlCol="0" anchor="t"/>
          <a:lstStyle/>
          <a:p>
            <a:pPr marL="0" indent="0" algn="l">
              <a:lnSpc>
                <a:spcPts val="2100"/>
              </a:lnSpc>
              <a:spcAft>
                <a:spcPts val="750"/>
              </a:spcAft>
              <a:buNone/>
            </a:pPr>
            <a:r>
              <a:rPr lang="en-US" sz="1350" b="1" dirty="0">
                <a:solidFill>
                  <a:srgbClr val="0C4A6E"/>
                </a:solidFill>
                <a:latin typeface="Arial" pitchFamily="34" charset="0"/>
                <a:ea typeface="Arial" pitchFamily="34" charset="-122"/>
                <a:cs typeface="Arial" pitchFamily="34" charset="-120"/>
              </a:rPr>
              <a:t>Use Cases</a:t>
            </a:r>
            <a:endParaRPr lang="en-US" sz="1350" dirty="0"/>
          </a:p>
        </p:txBody>
      </p:sp>
      <p:sp>
        <p:nvSpPr>
          <p:cNvPr id="18" name="Text 16"/>
          <p:cNvSpPr/>
          <p:nvPr/>
        </p:nvSpPr>
        <p:spPr>
          <a:xfrm>
            <a:off x="4550569" y="1597670"/>
            <a:ext cx="4169569" cy="757982"/>
          </a:xfrm>
          <a:prstGeom prst="roundRect">
            <a:avLst>
              <a:gd name="adj" fmla="val 5027"/>
            </a:avLst>
          </a:prstGeom>
          <a:solidFill>
            <a:srgbClr val="ECFDF5"/>
          </a:solidFill>
          <a:ln/>
        </p:spPr>
        <p:txBody>
          <a:bodyPr wrap="square" rtlCol="0" anchor="ctr"/>
          <a:lstStyle/>
          <a:p>
            <a:pPr marL="0" indent="0">
              <a:buNone/>
            </a:pPr>
            <a:endParaRPr lang="en-US" dirty="0"/>
          </a:p>
        </p:txBody>
      </p:sp>
      <p:sp>
        <p:nvSpPr>
          <p:cNvPr id="19" name="Shape 17"/>
          <p:cNvSpPr/>
          <p:nvPr/>
        </p:nvSpPr>
        <p:spPr>
          <a:xfrm>
            <a:off x="4569619" y="1597670"/>
            <a:ext cx="0" cy="757982"/>
          </a:xfrm>
          <a:prstGeom prst="line">
            <a:avLst/>
          </a:prstGeom>
          <a:noFill/>
          <a:ln w="38100">
            <a:solidFill>
              <a:srgbClr val="0891B2"/>
            </a:solidFill>
            <a:prstDash val="solid"/>
          </a:ln>
        </p:spPr>
      </p:sp>
      <p:sp>
        <p:nvSpPr>
          <p:cNvPr id="20" name="Text 18"/>
          <p:cNvSpPr/>
          <p:nvPr/>
        </p:nvSpPr>
        <p:spPr>
          <a:xfrm>
            <a:off x="4722019" y="1731020"/>
            <a:ext cx="3942064"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Policy Impact Assessment</a:t>
            </a:r>
            <a:endParaRPr lang="en-US" sz="900" dirty="0"/>
          </a:p>
        </p:txBody>
      </p:sp>
      <p:sp>
        <p:nvSpPr>
          <p:cNvPr id="21" name="Text 19"/>
          <p:cNvSpPr/>
          <p:nvPr/>
        </p:nvSpPr>
        <p:spPr>
          <a:xfrm>
            <a:off x="4722019" y="1929110"/>
            <a:ext cx="3942064" cy="293191"/>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Test how changing performance thresholds affects hospital classification and resource allocation</a:t>
            </a:r>
            <a:endParaRPr lang="en-US" sz="825" dirty="0"/>
          </a:p>
        </p:txBody>
      </p:sp>
      <p:sp>
        <p:nvSpPr>
          <p:cNvPr id="22" name="Text 20"/>
          <p:cNvSpPr/>
          <p:nvPr/>
        </p:nvSpPr>
        <p:spPr>
          <a:xfrm>
            <a:off x="4550569" y="2450902"/>
            <a:ext cx="4169569" cy="611386"/>
          </a:xfrm>
          <a:prstGeom prst="roundRect">
            <a:avLst>
              <a:gd name="adj" fmla="val 6232"/>
            </a:avLst>
          </a:prstGeom>
          <a:solidFill>
            <a:srgbClr val="ECFDF5"/>
          </a:solidFill>
          <a:ln/>
        </p:spPr>
        <p:txBody>
          <a:bodyPr wrap="square" rtlCol="0" anchor="ctr"/>
          <a:lstStyle/>
          <a:p>
            <a:pPr marL="0" indent="0">
              <a:buNone/>
            </a:pPr>
            <a:endParaRPr lang="en-US" dirty="0"/>
          </a:p>
        </p:txBody>
      </p:sp>
      <p:sp>
        <p:nvSpPr>
          <p:cNvPr id="23" name="Shape 21"/>
          <p:cNvSpPr/>
          <p:nvPr/>
        </p:nvSpPr>
        <p:spPr>
          <a:xfrm>
            <a:off x="4569619" y="2450902"/>
            <a:ext cx="0" cy="611386"/>
          </a:xfrm>
          <a:prstGeom prst="line">
            <a:avLst/>
          </a:prstGeom>
          <a:noFill/>
          <a:ln w="38100">
            <a:solidFill>
              <a:srgbClr val="0891B2"/>
            </a:solidFill>
            <a:prstDash val="solid"/>
          </a:ln>
        </p:spPr>
      </p:sp>
      <p:sp>
        <p:nvSpPr>
          <p:cNvPr id="24" name="Text 22"/>
          <p:cNvSpPr/>
          <p:nvPr/>
        </p:nvSpPr>
        <p:spPr>
          <a:xfrm>
            <a:off x="4722019" y="2584252"/>
            <a:ext cx="3942064"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Quality Improvement Planning</a:t>
            </a:r>
            <a:endParaRPr lang="en-US" sz="900" dirty="0"/>
          </a:p>
        </p:txBody>
      </p:sp>
      <p:sp>
        <p:nvSpPr>
          <p:cNvPr id="25" name="Text 23"/>
          <p:cNvSpPr/>
          <p:nvPr/>
        </p:nvSpPr>
        <p:spPr>
          <a:xfrm>
            <a:off x="4722019" y="2782342"/>
            <a:ext cx="3942064"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Model potential outcomes of quality initiatives before implementation</a:t>
            </a:r>
            <a:endParaRPr lang="en-US" sz="825" dirty="0"/>
          </a:p>
        </p:txBody>
      </p:sp>
      <p:sp>
        <p:nvSpPr>
          <p:cNvPr id="26" name="Text 24"/>
          <p:cNvSpPr/>
          <p:nvPr/>
        </p:nvSpPr>
        <p:spPr>
          <a:xfrm>
            <a:off x="4550569" y="3157538"/>
            <a:ext cx="4169569" cy="611386"/>
          </a:xfrm>
          <a:prstGeom prst="roundRect">
            <a:avLst>
              <a:gd name="adj" fmla="val 6232"/>
            </a:avLst>
          </a:prstGeom>
          <a:solidFill>
            <a:srgbClr val="ECFDF5"/>
          </a:solidFill>
          <a:ln/>
        </p:spPr>
        <p:txBody>
          <a:bodyPr wrap="square" rtlCol="0" anchor="ctr"/>
          <a:lstStyle/>
          <a:p>
            <a:pPr marL="0" indent="0">
              <a:buNone/>
            </a:pPr>
            <a:endParaRPr lang="en-US" dirty="0"/>
          </a:p>
        </p:txBody>
      </p:sp>
      <p:sp>
        <p:nvSpPr>
          <p:cNvPr id="27" name="Shape 25"/>
          <p:cNvSpPr/>
          <p:nvPr/>
        </p:nvSpPr>
        <p:spPr>
          <a:xfrm>
            <a:off x="4569619" y="3157538"/>
            <a:ext cx="0" cy="611386"/>
          </a:xfrm>
          <a:prstGeom prst="line">
            <a:avLst/>
          </a:prstGeom>
          <a:noFill/>
          <a:ln w="38100">
            <a:solidFill>
              <a:srgbClr val="0891B2"/>
            </a:solidFill>
            <a:prstDash val="solid"/>
          </a:ln>
        </p:spPr>
      </p:sp>
      <p:sp>
        <p:nvSpPr>
          <p:cNvPr id="28" name="Text 26"/>
          <p:cNvSpPr/>
          <p:nvPr/>
        </p:nvSpPr>
        <p:spPr>
          <a:xfrm>
            <a:off x="4722019" y="3290888"/>
            <a:ext cx="3942064"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Budget Forecasting</a:t>
            </a:r>
            <a:endParaRPr lang="en-US" sz="900" dirty="0"/>
          </a:p>
        </p:txBody>
      </p:sp>
      <p:sp>
        <p:nvSpPr>
          <p:cNvPr id="29" name="Text 27"/>
          <p:cNvSpPr/>
          <p:nvPr/>
        </p:nvSpPr>
        <p:spPr>
          <a:xfrm>
            <a:off x="4722019" y="3488978"/>
            <a:ext cx="3942064" cy="146596"/>
          </a:xfrm>
          <a:prstGeom prst="rect">
            <a:avLst/>
          </a:prstGeom>
          <a:noFill/>
          <a:ln/>
        </p:spPr>
        <p:txBody>
          <a:bodyPr wrap="square" lIns="0" tIns="0" rIns="0" bIns="0" rtlCol="0" anchor="t"/>
          <a:lstStyle/>
          <a:p>
            <a:pPr marL="0" indent="0" algn="l">
              <a:lnSpc>
                <a:spcPts val="1155"/>
              </a:lnSpc>
              <a:buNone/>
            </a:pPr>
            <a:r>
              <a:rPr lang="en-US" sz="825" dirty="0">
                <a:solidFill>
                  <a:srgbClr val="1E293B"/>
                </a:solidFill>
                <a:latin typeface="Arial" pitchFamily="34" charset="0"/>
                <a:ea typeface="Arial" pitchFamily="34" charset="-122"/>
                <a:cs typeface="Arial" pitchFamily="34" charset="-120"/>
              </a:rPr>
              <a:t>Predict financial implications of quality measure improvements</a:t>
            </a:r>
            <a:endParaRPr lang="en-US" sz="825" dirty="0"/>
          </a:p>
        </p:txBody>
      </p:sp>
      <p:sp>
        <p:nvSpPr>
          <p:cNvPr id="30" name="Text 28"/>
          <p:cNvSpPr/>
          <p:nvPr/>
        </p:nvSpPr>
        <p:spPr>
          <a:xfrm>
            <a:off x="4550569" y="3864173"/>
            <a:ext cx="4169569" cy="757982"/>
          </a:xfrm>
          <a:prstGeom prst="roundRect">
            <a:avLst>
              <a:gd name="adj" fmla="val 5027"/>
            </a:avLst>
          </a:prstGeom>
          <a:solidFill>
            <a:srgbClr val="FFF3CD"/>
          </a:solidFill>
          <a:ln/>
        </p:spPr>
        <p:txBody>
          <a:bodyPr wrap="square" rtlCol="0" anchor="ctr"/>
          <a:lstStyle/>
          <a:p>
            <a:pPr marL="0" indent="0">
              <a:buNone/>
            </a:pPr>
            <a:endParaRPr lang="en-US" dirty="0"/>
          </a:p>
        </p:txBody>
      </p:sp>
      <p:sp>
        <p:nvSpPr>
          <p:cNvPr id="31" name="Shape 29"/>
          <p:cNvSpPr/>
          <p:nvPr/>
        </p:nvSpPr>
        <p:spPr>
          <a:xfrm>
            <a:off x="4569619" y="3864173"/>
            <a:ext cx="0" cy="757982"/>
          </a:xfrm>
          <a:prstGeom prst="line">
            <a:avLst/>
          </a:prstGeom>
          <a:noFill/>
          <a:ln w="38100">
            <a:solidFill>
              <a:srgbClr val="FBBF24"/>
            </a:solidFill>
            <a:prstDash val="solid"/>
          </a:ln>
        </p:spPr>
      </p:sp>
      <p:sp>
        <p:nvSpPr>
          <p:cNvPr id="32" name="Text 30"/>
          <p:cNvSpPr/>
          <p:nvPr/>
        </p:nvSpPr>
        <p:spPr>
          <a:xfrm>
            <a:off x="4722019" y="3997523"/>
            <a:ext cx="3942064"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2400E"/>
                </a:solidFill>
                <a:latin typeface="Arial" pitchFamily="34" charset="0"/>
                <a:ea typeface="Arial" pitchFamily="34" charset="-122"/>
                <a:cs typeface="Arial" pitchFamily="34" charset="-120"/>
              </a:rPr>
              <a:t>Technical Implementation</a:t>
            </a:r>
            <a:endParaRPr lang="en-US" sz="900" dirty="0"/>
          </a:p>
        </p:txBody>
      </p:sp>
      <p:sp>
        <p:nvSpPr>
          <p:cNvPr id="33" name="Text 31"/>
          <p:cNvSpPr/>
          <p:nvPr/>
        </p:nvSpPr>
        <p:spPr>
          <a:xfrm>
            <a:off x="4722019" y="4195614"/>
            <a:ext cx="3942064" cy="293191"/>
          </a:xfrm>
          <a:prstGeom prst="rect">
            <a:avLst/>
          </a:prstGeom>
          <a:noFill/>
          <a:ln/>
        </p:spPr>
        <p:txBody>
          <a:bodyPr wrap="square" lIns="0" tIns="0" rIns="0" bIns="0" rtlCol="0" anchor="t"/>
          <a:lstStyle/>
          <a:p>
            <a:pPr marL="0" indent="0" algn="l">
              <a:lnSpc>
                <a:spcPts val="1155"/>
              </a:lnSpc>
              <a:buNone/>
            </a:pPr>
            <a:r>
              <a:rPr lang="en-US" sz="825" dirty="0">
                <a:solidFill>
                  <a:srgbClr val="78350F"/>
                </a:solidFill>
                <a:latin typeface="Arial" pitchFamily="34" charset="0"/>
                <a:ea typeface="Arial" pitchFamily="34" charset="-122"/>
                <a:cs typeface="Arial" pitchFamily="34" charset="-120"/>
              </a:rPr>
              <a:t>Complex DAX measures with CALCULATE, FILTER, and variable logic to enable instant parameter-driven recalculation</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4614863"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Dashboard Pages Overview</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pic>
        <p:nvPicPr>
          <p:cNvPr id="4" name="Image 0" descr="/tmp/rasterized-gradient-372a5c79.png"/>
          <p:cNvPicPr>
            <a:picLocks noChangeAspect="1"/>
          </p:cNvPicPr>
          <p:nvPr/>
        </p:nvPicPr>
        <p:blipFill>
          <a:blip r:embed="rId3"/>
          <a:stretch>
            <a:fillRect/>
          </a:stretch>
        </p:blipFill>
        <p:spPr>
          <a:xfrm>
            <a:off x="228600" y="942975"/>
            <a:ext cx="4169569" cy="1462832"/>
          </a:xfrm>
          <a:prstGeom prst="rect">
            <a:avLst/>
          </a:prstGeom>
        </p:spPr>
      </p:pic>
      <p:sp>
        <p:nvSpPr>
          <p:cNvPr id="5" name="Text 2"/>
          <p:cNvSpPr/>
          <p:nvPr/>
        </p:nvSpPr>
        <p:spPr>
          <a:xfrm>
            <a:off x="400050" y="1114425"/>
            <a:ext cx="342900" cy="342900"/>
          </a:xfrm>
          <a:prstGeom prst="roundRect">
            <a:avLst>
              <a:gd name="adj" fmla="val 266667"/>
            </a:avLst>
          </a:prstGeom>
          <a:solidFill>
            <a:srgbClr val="FFFFFF"/>
          </a:solidFill>
          <a:ln/>
        </p:spPr>
        <p:txBody>
          <a:bodyPr wrap="square" rtlCol="0" anchor="ctr"/>
          <a:lstStyle/>
          <a:p>
            <a:pPr marL="0" indent="0">
              <a:buNone/>
            </a:pPr>
            <a:endParaRPr lang="en-US" dirty="0"/>
          </a:p>
        </p:txBody>
      </p:sp>
      <p:sp>
        <p:nvSpPr>
          <p:cNvPr id="6" name="Text 3"/>
          <p:cNvSpPr/>
          <p:nvPr/>
        </p:nvSpPr>
        <p:spPr>
          <a:xfrm>
            <a:off x="518517" y="1152525"/>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0C4A6E"/>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857250" y="1152525"/>
            <a:ext cx="1382637" cy="2667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Arial" pitchFamily="34" charset="0"/>
                <a:ea typeface="Arial" pitchFamily="34" charset="-122"/>
                <a:cs typeface="Arial" pitchFamily="34" charset="-120"/>
              </a:rPr>
              <a:t>Overview Page</a:t>
            </a:r>
            <a:endParaRPr lang="en-US" sz="1500" dirty="0"/>
          </a:p>
        </p:txBody>
      </p:sp>
      <p:sp>
        <p:nvSpPr>
          <p:cNvPr id="8" name="Text 5"/>
          <p:cNvSpPr/>
          <p:nvPr/>
        </p:nvSpPr>
        <p:spPr>
          <a:xfrm>
            <a:off x="400050" y="1533525"/>
            <a:ext cx="3903202" cy="15999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FFFFFF"/>
                </a:solidFill>
                <a:latin typeface="Arial" pitchFamily="34" charset="0"/>
                <a:ea typeface="Arial" pitchFamily="34" charset="-122"/>
                <a:cs typeface="Arial" pitchFamily="34" charset="-120"/>
              </a:rPr>
              <a:t>High-level KPI cards with filtering capabilities</a:t>
            </a:r>
            <a:endParaRPr lang="en-US" sz="900" dirty="0"/>
          </a:p>
        </p:txBody>
      </p:sp>
      <p:sp>
        <p:nvSpPr>
          <p:cNvPr id="9" name="Text 6"/>
          <p:cNvSpPr/>
          <p:nvPr/>
        </p:nvSpPr>
        <p:spPr>
          <a:xfrm>
            <a:off x="400050" y="1769715"/>
            <a:ext cx="3903202"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Features:</a:t>
            </a:r>
            <a:r>
              <a:rPr lang="en-US" sz="825" dirty="0">
                <a:solidFill>
                  <a:srgbClr val="FFFFFF"/>
                </a:solidFill>
                <a:latin typeface="Arial" pitchFamily="34" charset="0"/>
                <a:ea typeface="Arial" pitchFamily="34" charset="-122"/>
                <a:cs typeface="Arial" pitchFamily="34" charset="-120"/>
              </a:rPr>
              <a:t> Total hospitals, % High-Performing, Avg "Better" metrics, interactive sliders, basic slicers (State, Type, Ownership)</a:t>
            </a:r>
            <a:endParaRPr lang="en-US" sz="825" dirty="0"/>
          </a:p>
        </p:txBody>
      </p:sp>
      <p:sp>
        <p:nvSpPr>
          <p:cNvPr id="10" name="Text 7"/>
          <p:cNvSpPr/>
          <p:nvPr/>
        </p:nvSpPr>
        <p:spPr>
          <a:xfrm>
            <a:off x="400050" y="2101007"/>
            <a:ext cx="3903202" cy="133350"/>
          </a:xfrm>
          <a:prstGeom prst="rect">
            <a:avLst/>
          </a:prstGeom>
          <a:noFill/>
          <a:ln/>
        </p:spPr>
        <p:txBody>
          <a:bodyPr wrap="square" lIns="0" tIns="0" rIns="0" bIns="0" rtlCol="0" anchor="t"/>
          <a:lstStyle/>
          <a:p>
            <a:pPr marL="0" indent="0" algn="l">
              <a:lnSpc>
                <a:spcPts val="1050"/>
              </a:lnSpc>
              <a:spcBef>
                <a:spcPts val="300"/>
              </a:spcBef>
              <a:buNone/>
            </a:pPr>
            <a:r>
              <a:rPr lang="en-US" sz="750" i="1" dirty="0">
                <a:solidFill>
                  <a:srgbClr val="FFFFFF"/>
                </a:solidFill>
                <a:latin typeface="Arial" pitchFamily="34" charset="0"/>
                <a:ea typeface="Arial" pitchFamily="34" charset="-122"/>
                <a:cs typeface="Arial" pitchFamily="34" charset="-120"/>
              </a:rPr>
              <a:t>Designer: Deeksha</a:t>
            </a:r>
            <a:endParaRPr lang="en-US" sz="750" dirty="0"/>
          </a:p>
        </p:txBody>
      </p:sp>
      <p:pic>
        <p:nvPicPr>
          <p:cNvPr id="11" name="Image 1" descr="/tmp/rasterized-gradient-79421da5.png"/>
          <p:cNvPicPr>
            <a:picLocks noChangeAspect="1"/>
          </p:cNvPicPr>
          <p:nvPr/>
        </p:nvPicPr>
        <p:blipFill>
          <a:blip r:embed="rId4"/>
          <a:stretch>
            <a:fillRect/>
          </a:stretch>
        </p:blipFill>
        <p:spPr>
          <a:xfrm>
            <a:off x="4474369" y="942975"/>
            <a:ext cx="4169569" cy="1462832"/>
          </a:xfrm>
          <a:prstGeom prst="rect">
            <a:avLst/>
          </a:prstGeom>
        </p:spPr>
      </p:pic>
      <p:sp>
        <p:nvSpPr>
          <p:cNvPr id="12" name="Text 8"/>
          <p:cNvSpPr/>
          <p:nvPr/>
        </p:nvSpPr>
        <p:spPr>
          <a:xfrm>
            <a:off x="4645819" y="1114425"/>
            <a:ext cx="342900" cy="342900"/>
          </a:xfrm>
          <a:prstGeom prst="roundRect">
            <a:avLst>
              <a:gd name="adj" fmla="val 266667"/>
            </a:avLst>
          </a:prstGeom>
          <a:solidFill>
            <a:srgbClr val="FFFFFF"/>
          </a:solidFill>
          <a:ln/>
        </p:spPr>
        <p:txBody>
          <a:bodyPr wrap="square" rtlCol="0" anchor="ctr"/>
          <a:lstStyle/>
          <a:p>
            <a:pPr marL="0" indent="0">
              <a:buNone/>
            </a:pPr>
            <a:endParaRPr lang="en-US" dirty="0"/>
          </a:p>
        </p:txBody>
      </p:sp>
      <p:sp>
        <p:nvSpPr>
          <p:cNvPr id="13" name="Text 9"/>
          <p:cNvSpPr/>
          <p:nvPr/>
        </p:nvSpPr>
        <p:spPr>
          <a:xfrm>
            <a:off x="4764286" y="1152525"/>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0891B2"/>
                </a:solidFill>
                <a:latin typeface="Arial" pitchFamily="34" charset="0"/>
                <a:ea typeface="Arial" pitchFamily="34" charset="-122"/>
                <a:cs typeface="Arial" pitchFamily="34" charset="-120"/>
              </a:rPr>
              <a:t>2</a:t>
            </a:r>
            <a:endParaRPr lang="en-US" sz="1500" dirty="0"/>
          </a:p>
        </p:txBody>
      </p:sp>
      <p:sp>
        <p:nvSpPr>
          <p:cNvPr id="14" name="Text 10"/>
          <p:cNvSpPr/>
          <p:nvPr/>
        </p:nvSpPr>
        <p:spPr>
          <a:xfrm>
            <a:off x="5103019" y="1152525"/>
            <a:ext cx="1925794" cy="2667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Arial" pitchFamily="34" charset="0"/>
                <a:ea typeface="Arial" pitchFamily="34" charset="-122"/>
                <a:cs typeface="Arial" pitchFamily="34" charset="-120"/>
              </a:rPr>
              <a:t>Geographic Analysis</a:t>
            </a:r>
            <a:endParaRPr lang="en-US" sz="1500" dirty="0"/>
          </a:p>
        </p:txBody>
      </p:sp>
      <p:sp>
        <p:nvSpPr>
          <p:cNvPr id="15" name="Text 11"/>
          <p:cNvSpPr/>
          <p:nvPr/>
        </p:nvSpPr>
        <p:spPr>
          <a:xfrm>
            <a:off x="4645819" y="1533525"/>
            <a:ext cx="3903202" cy="15999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FFFFFF"/>
                </a:solidFill>
                <a:latin typeface="Arial" pitchFamily="34" charset="0"/>
                <a:ea typeface="Arial" pitchFamily="34" charset="-122"/>
                <a:cs typeface="Arial" pitchFamily="34" charset="-120"/>
              </a:rPr>
              <a:t>State-level performance visualization</a:t>
            </a:r>
            <a:endParaRPr lang="en-US" sz="900" dirty="0"/>
          </a:p>
        </p:txBody>
      </p:sp>
      <p:sp>
        <p:nvSpPr>
          <p:cNvPr id="16" name="Text 12"/>
          <p:cNvSpPr/>
          <p:nvPr/>
        </p:nvSpPr>
        <p:spPr>
          <a:xfrm>
            <a:off x="4645819" y="1769715"/>
            <a:ext cx="3903202"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Features:</a:t>
            </a:r>
            <a:r>
              <a:rPr lang="en-US" sz="825" dirty="0">
                <a:solidFill>
                  <a:srgbClr val="FFFFFF"/>
                </a:solidFill>
                <a:latin typeface="Arial" pitchFamily="34" charset="0"/>
                <a:ea typeface="Arial" pitchFamily="34" charset="-122"/>
                <a:cs typeface="Arial" pitchFamily="34" charset="-120"/>
              </a:rPr>
              <a:t> Interactive map with color-coded ratings, top 10 states ranking, geographic drill-down capabilities</a:t>
            </a:r>
            <a:endParaRPr lang="en-US" sz="825" dirty="0"/>
          </a:p>
        </p:txBody>
      </p:sp>
      <p:sp>
        <p:nvSpPr>
          <p:cNvPr id="17" name="Text 13"/>
          <p:cNvSpPr/>
          <p:nvPr/>
        </p:nvSpPr>
        <p:spPr>
          <a:xfrm>
            <a:off x="4645819" y="2101007"/>
            <a:ext cx="3903202" cy="133350"/>
          </a:xfrm>
          <a:prstGeom prst="rect">
            <a:avLst/>
          </a:prstGeom>
          <a:noFill/>
          <a:ln/>
        </p:spPr>
        <p:txBody>
          <a:bodyPr wrap="square" lIns="0" tIns="0" rIns="0" bIns="0" rtlCol="0" anchor="t"/>
          <a:lstStyle/>
          <a:p>
            <a:pPr marL="0" indent="0" algn="l">
              <a:lnSpc>
                <a:spcPts val="1050"/>
              </a:lnSpc>
              <a:spcBef>
                <a:spcPts val="300"/>
              </a:spcBef>
              <a:buNone/>
            </a:pPr>
            <a:r>
              <a:rPr lang="en-US" sz="750" i="1" dirty="0">
                <a:solidFill>
                  <a:srgbClr val="FFFFFF"/>
                </a:solidFill>
                <a:latin typeface="Arial" pitchFamily="34" charset="0"/>
                <a:ea typeface="Arial" pitchFamily="34" charset="-122"/>
                <a:cs typeface="Arial" pitchFamily="34" charset="-120"/>
              </a:rPr>
              <a:t>Designer: Deepak</a:t>
            </a:r>
            <a:endParaRPr lang="en-US" sz="750" dirty="0"/>
          </a:p>
        </p:txBody>
      </p:sp>
      <p:pic>
        <p:nvPicPr>
          <p:cNvPr id="18" name="Image 2" descr="/tmp/rasterized-gradient-3ed9e4c3.png"/>
          <p:cNvPicPr>
            <a:picLocks noChangeAspect="1"/>
          </p:cNvPicPr>
          <p:nvPr/>
        </p:nvPicPr>
        <p:blipFill>
          <a:blip r:embed="rId5"/>
          <a:stretch>
            <a:fillRect/>
          </a:stretch>
        </p:blipFill>
        <p:spPr>
          <a:xfrm>
            <a:off x="228600" y="2520107"/>
            <a:ext cx="4169569" cy="1462832"/>
          </a:xfrm>
          <a:prstGeom prst="rect">
            <a:avLst/>
          </a:prstGeom>
        </p:spPr>
      </p:pic>
      <p:sp>
        <p:nvSpPr>
          <p:cNvPr id="19" name="Text 14"/>
          <p:cNvSpPr/>
          <p:nvPr/>
        </p:nvSpPr>
        <p:spPr>
          <a:xfrm>
            <a:off x="400050" y="2691557"/>
            <a:ext cx="342900" cy="342900"/>
          </a:xfrm>
          <a:prstGeom prst="roundRect">
            <a:avLst>
              <a:gd name="adj" fmla="val 266667"/>
            </a:avLst>
          </a:prstGeom>
          <a:solidFill>
            <a:srgbClr val="FFFFFF"/>
          </a:solidFill>
          <a:ln/>
        </p:spPr>
        <p:txBody>
          <a:bodyPr wrap="square" rtlCol="0" anchor="ctr"/>
          <a:lstStyle/>
          <a:p>
            <a:pPr marL="0" indent="0">
              <a:buNone/>
            </a:pPr>
            <a:endParaRPr lang="en-US" dirty="0"/>
          </a:p>
        </p:txBody>
      </p:sp>
      <p:sp>
        <p:nvSpPr>
          <p:cNvPr id="20" name="Text 15"/>
          <p:cNvSpPr/>
          <p:nvPr/>
        </p:nvSpPr>
        <p:spPr>
          <a:xfrm>
            <a:off x="518517" y="2729657"/>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334155"/>
                </a:solidFill>
                <a:latin typeface="Arial" pitchFamily="34" charset="0"/>
                <a:ea typeface="Arial" pitchFamily="34" charset="-122"/>
                <a:cs typeface="Arial" pitchFamily="34" charset="-120"/>
              </a:rPr>
              <a:t>3</a:t>
            </a:r>
            <a:endParaRPr lang="en-US" sz="1500" dirty="0"/>
          </a:p>
        </p:txBody>
      </p:sp>
      <p:sp>
        <p:nvSpPr>
          <p:cNvPr id="21" name="Text 16"/>
          <p:cNvSpPr/>
          <p:nvPr/>
        </p:nvSpPr>
        <p:spPr>
          <a:xfrm>
            <a:off x="857250" y="2729657"/>
            <a:ext cx="1879190" cy="2667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Arial" pitchFamily="34" charset="0"/>
                <a:ea typeface="Arial" pitchFamily="34" charset="-122"/>
                <a:cs typeface="Arial" pitchFamily="34" charset="-120"/>
              </a:rPr>
              <a:t>Performance Details</a:t>
            </a:r>
            <a:endParaRPr lang="en-US" sz="1500" dirty="0"/>
          </a:p>
        </p:txBody>
      </p:sp>
      <p:sp>
        <p:nvSpPr>
          <p:cNvPr id="22" name="Text 17"/>
          <p:cNvSpPr/>
          <p:nvPr/>
        </p:nvSpPr>
        <p:spPr>
          <a:xfrm>
            <a:off x="400050" y="3110657"/>
            <a:ext cx="3903202" cy="15999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FFFFFF"/>
                </a:solidFill>
                <a:latin typeface="Arial" pitchFamily="34" charset="0"/>
                <a:ea typeface="Arial" pitchFamily="34" charset="-122"/>
                <a:cs typeface="Arial" pitchFamily="34" charset="-120"/>
              </a:rPr>
              <a:t>Detailed measure comparison by domain</a:t>
            </a:r>
            <a:endParaRPr lang="en-US" sz="900" dirty="0"/>
          </a:p>
        </p:txBody>
      </p:sp>
      <p:sp>
        <p:nvSpPr>
          <p:cNvPr id="23" name="Text 18"/>
          <p:cNvSpPr/>
          <p:nvPr/>
        </p:nvSpPr>
        <p:spPr>
          <a:xfrm>
            <a:off x="400050" y="3346847"/>
            <a:ext cx="3903202"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Features:</a:t>
            </a:r>
            <a:r>
              <a:rPr lang="en-US" sz="825" dirty="0">
                <a:solidFill>
                  <a:srgbClr val="FFFFFF"/>
                </a:solidFill>
                <a:latin typeface="Arial" pitchFamily="34" charset="0"/>
                <a:ea typeface="Arial" pitchFamily="34" charset="-122"/>
                <a:cs typeface="Arial" pitchFamily="34" charset="-120"/>
              </a:rPr>
              <a:t> Better/No Different/Worse counts by domain, matrix visual for drill-through, individual hospital scorecard access</a:t>
            </a:r>
            <a:endParaRPr lang="en-US" sz="825" dirty="0"/>
          </a:p>
        </p:txBody>
      </p:sp>
      <p:sp>
        <p:nvSpPr>
          <p:cNvPr id="24" name="Text 19"/>
          <p:cNvSpPr/>
          <p:nvPr/>
        </p:nvSpPr>
        <p:spPr>
          <a:xfrm>
            <a:off x="400050" y="3678138"/>
            <a:ext cx="3903202" cy="133350"/>
          </a:xfrm>
          <a:prstGeom prst="rect">
            <a:avLst/>
          </a:prstGeom>
          <a:noFill/>
          <a:ln/>
        </p:spPr>
        <p:txBody>
          <a:bodyPr wrap="square" lIns="0" tIns="0" rIns="0" bIns="0" rtlCol="0" anchor="t"/>
          <a:lstStyle/>
          <a:p>
            <a:pPr marL="0" indent="0" algn="l">
              <a:lnSpc>
                <a:spcPts val="1050"/>
              </a:lnSpc>
              <a:spcBef>
                <a:spcPts val="300"/>
              </a:spcBef>
              <a:buNone/>
            </a:pPr>
            <a:r>
              <a:rPr lang="en-US" sz="750" i="1" dirty="0">
                <a:solidFill>
                  <a:srgbClr val="FFFFFF"/>
                </a:solidFill>
                <a:latin typeface="Arial" pitchFamily="34" charset="0"/>
                <a:ea typeface="Arial" pitchFamily="34" charset="-122"/>
                <a:cs typeface="Arial" pitchFamily="34" charset="-120"/>
              </a:rPr>
              <a:t>Designer: Vaishnavi</a:t>
            </a:r>
            <a:endParaRPr lang="en-US" sz="750" dirty="0"/>
          </a:p>
        </p:txBody>
      </p:sp>
      <p:pic>
        <p:nvPicPr>
          <p:cNvPr id="25" name="Image 3" descr="/tmp/rasterized-gradient-a85ede51.png"/>
          <p:cNvPicPr>
            <a:picLocks noChangeAspect="1"/>
          </p:cNvPicPr>
          <p:nvPr/>
        </p:nvPicPr>
        <p:blipFill>
          <a:blip r:embed="rId6"/>
          <a:stretch>
            <a:fillRect/>
          </a:stretch>
        </p:blipFill>
        <p:spPr>
          <a:xfrm>
            <a:off x="4474369" y="2520107"/>
            <a:ext cx="4169569" cy="1462832"/>
          </a:xfrm>
          <a:prstGeom prst="rect">
            <a:avLst/>
          </a:prstGeom>
        </p:spPr>
      </p:pic>
      <p:sp>
        <p:nvSpPr>
          <p:cNvPr id="26" name="Text 20"/>
          <p:cNvSpPr/>
          <p:nvPr/>
        </p:nvSpPr>
        <p:spPr>
          <a:xfrm>
            <a:off x="4645819" y="2691557"/>
            <a:ext cx="342900" cy="342900"/>
          </a:xfrm>
          <a:prstGeom prst="roundRect">
            <a:avLst>
              <a:gd name="adj" fmla="val 266667"/>
            </a:avLst>
          </a:prstGeom>
          <a:solidFill>
            <a:srgbClr val="FFFFFF"/>
          </a:solidFill>
          <a:ln/>
        </p:spPr>
        <p:txBody>
          <a:bodyPr wrap="square" rtlCol="0" anchor="ctr"/>
          <a:lstStyle/>
          <a:p>
            <a:pPr marL="0" indent="0">
              <a:buNone/>
            </a:pPr>
            <a:endParaRPr lang="en-US" dirty="0"/>
          </a:p>
        </p:txBody>
      </p:sp>
      <p:sp>
        <p:nvSpPr>
          <p:cNvPr id="27" name="Text 21"/>
          <p:cNvSpPr/>
          <p:nvPr/>
        </p:nvSpPr>
        <p:spPr>
          <a:xfrm>
            <a:off x="4764286" y="2729657"/>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0F766E"/>
                </a:solidFill>
                <a:latin typeface="Arial" pitchFamily="34" charset="0"/>
                <a:ea typeface="Arial" pitchFamily="34" charset="-122"/>
                <a:cs typeface="Arial" pitchFamily="34" charset="-120"/>
              </a:rPr>
              <a:t>4</a:t>
            </a:r>
            <a:endParaRPr lang="en-US" sz="1500" dirty="0"/>
          </a:p>
        </p:txBody>
      </p:sp>
      <p:sp>
        <p:nvSpPr>
          <p:cNvPr id="28" name="Text 22"/>
          <p:cNvSpPr/>
          <p:nvPr/>
        </p:nvSpPr>
        <p:spPr>
          <a:xfrm>
            <a:off x="5103019" y="2729657"/>
            <a:ext cx="1619756" cy="2667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Arial" pitchFamily="34" charset="0"/>
                <a:ea typeface="Arial" pitchFamily="34" charset="-122"/>
                <a:cs typeface="Arial" pitchFamily="34" charset="-120"/>
              </a:rPr>
              <a:t>Scenario Insights</a:t>
            </a:r>
            <a:endParaRPr lang="en-US" sz="1500" dirty="0"/>
          </a:p>
        </p:txBody>
      </p:sp>
      <p:sp>
        <p:nvSpPr>
          <p:cNvPr id="29" name="Text 23"/>
          <p:cNvSpPr/>
          <p:nvPr/>
        </p:nvSpPr>
        <p:spPr>
          <a:xfrm>
            <a:off x="4645819" y="3110657"/>
            <a:ext cx="3903202" cy="15999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FFFFFF"/>
                </a:solidFill>
                <a:latin typeface="Arial" pitchFamily="34" charset="0"/>
                <a:ea typeface="Arial" pitchFamily="34" charset="-122"/>
                <a:cs typeface="Arial" pitchFamily="34" charset="-120"/>
              </a:rPr>
              <a:t>What-If analysis visualization</a:t>
            </a:r>
            <a:endParaRPr lang="en-US" sz="900" dirty="0"/>
          </a:p>
        </p:txBody>
      </p:sp>
      <p:sp>
        <p:nvSpPr>
          <p:cNvPr id="30" name="Text 24"/>
          <p:cNvSpPr/>
          <p:nvPr/>
        </p:nvSpPr>
        <p:spPr>
          <a:xfrm>
            <a:off x="4645819" y="3346847"/>
            <a:ext cx="3903202"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Features:</a:t>
            </a:r>
            <a:r>
              <a:rPr lang="en-US" sz="825" dirty="0">
                <a:solidFill>
                  <a:srgbClr val="FFFFFF"/>
                </a:solidFill>
                <a:latin typeface="Arial" pitchFamily="34" charset="0"/>
                <a:ea typeface="Arial" pitchFamily="34" charset="-122"/>
                <a:cs typeface="Arial" pitchFamily="34" charset="-120"/>
              </a:rPr>
              <a:t> Line chart showing projected improvement impact, scenario comparison metrics, parameter-driven forecasting</a:t>
            </a:r>
            <a:endParaRPr lang="en-US" sz="825" dirty="0"/>
          </a:p>
        </p:txBody>
      </p:sp>
      <p:sp>
        <p:nvSpPr>
          <p:cNvPr id="31" name="Text 25"/>
          <p:cNvSpPr/>
          <p:nvPr/>
        </p:nvSpPr>
        <p:spPr>
          <a:xfrm>
            <a:off x="4645819" y="3678138"/>
            <a:ext cx="3903202" cy="133350"/>
          </a:xfrm>
          <a:prstGeom prst="rect">
            <a:avLst/>
          </a:prstGeom>
          <a:noFill/>
          <a:ln/>
        </p:spPr>
        <p:txBody>
          <a:bodyPr wrap="square" lIns="0" tIns="0" rIns="0" bIns="0" rtlCol="0" anchor="t"/>
          <a:lstStyle/>
          <a:p>
            <a:pPr marL="0" indent="0" algn="l">
              <a:lnSpc>
                <a:spcPts val="1050"/>
              </a:lnSpc>
              <a:spcBef>
                <a:spcPts val="300"/>
              </a:spcBef>
              <a:buNone/>
            </a:pPr>
            <a:r>
              <a:rPr lang="en-US" sz="750" i="1" dirty="0">
                <a:solidFill>
                  <a:srgbClr val="FFFFFF"/>
                </a:solidFill>
                <a:latin typeface="Arial" pitchFamily="34" charset="0"/>
                <a:ea typeface="Arial" pitchFamily="34" charset="-122"/>
                <a:cs typeface="Arial" pitchFamily="34" charset="-120"/>
              </a:rPr>
              <a:t>Designer: Sukesh</a:t>
            </a:r>
            <a:endParaRPr lang="en-US" sz="750" dirty="0"/>
          </a:p>
        </p:txBody>
      </p:sp>
      <p:sp>
        <p:nvSpPr>
          <p:cNvPr id="32" name="Text 26"/>
          <p:cNvSpPr/>
          <p:nvPr/>
        </p:nvSpPr>
        <p:spPr>
          <a:xfrm>
            <a:off x="228600" y="4097238"/>
            <a:ext cx="8686800" cy="413296"/>
          </a:xfrm>
          <a:prstGeom prst="roundRect">
            <a:avLst>
              <a:gd name="adj" fmla="val 13828"/>
            </a:avLst>
          </a:prstGeom>
          <a:solidFill>
            <a:srgbClr val="FFFFFF"/>
          </a:solidFill>
          <a:ln w="19050">
            <a:solidFill>
              <a:srgbClr val="CBD5E1"/>
            </a:solidFill>
          </a:ln>
        </p:spPr>
        <p:txBody>
          <a:bodyPr wrap="square" rtlCol="0" anchor="ctr"/>
          <a:lstStyle/>
          <a:p>
            <a:pPr marL="0" indent="0">
              <a:buNone/>
            </a:pPr>
            <a:endParaRPr lang="en-US" dirty="0"/>
          </a:p>
        </p:txBody>
      </p:sp>
      <p:sp>
        <p:nvSpPr>
          <p:cNvPr id="33" name="Text 27"/>
          <p:cNvSpPr/>
          <p:nvPr/>
        </p:nvSpPr>
        <p:spPr>
          <a:xfrm>
            <a:off x="361950" y="4230588"/>
            <a:ext cx="8588502" cy="146596"/>
          </a:xfrm>
          <a:prstGeom prst="rect">
            <a:avLst/>
          </a:prstGeom>
          <a:noFill/>
          <a:ln/>
        </p:spPr>
        <p:txBody>
          <a:bodyPr wrap="square" lIns="0" tIns="0" rIns="0" bIns="0" rtlCol="0" anchor="t"/>
          <a:lstStyle/>
          <a:p>
            <a:pPr marL="0" indent="0" algn="l">
              <a:lnSpc>
                <a:spcPts val="1155"/>
              </a:lnSpc>
              <a:buNone/>
            </a:pPr>
            <a:r>
              <a:rPr lang="en-US" sz="825" b="1" dirty="0">
                <a:solidFill>
                  <a:srgbClr val="334155"/>
                </a:solidFill>
                <a:latin typeface="Arial" pitchFamily="34" charset="0"/>
                <a:ea typeface="Arial" pitchFamily="34" charset="-122"/>
                <a:cs typeface="Arial" pitchFamily="34" charset="-120"/>
              </a:rPr>
              <a:t>Navigation:</a:t>
            </a:r>
            <a:r>
              <a:rPr lang="en-US" sz="825" dirty="0">
                <a:solidFill>
                  <a:srgbClr val="334155"/>
                </a:solidFill>
                <a:latin typeface="Arial" pitchFamily="34" charset="0"/>
                <a:ea typeface="Arial" pitchFamily="34" charset="-122"/>
                <a:cs typeface="Arial" pitchFamily="34" charset="-120"/>
              </a:rPr>
              <a:t> Consistent slicer panel applies filters across all pages | Drill-through enabled for detailed hospital-level analysis | Tooltips provide additional context on hover</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5324094"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Technical Implementation - DAX</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1909762"/>
            <a:ext cx="4607424" cy="228600"/>
          </a:xfrm>
          <a:prstGeom prst="rect">
            <a:avLst/>
          </a:prstGeom>
          <a:noFill/>
          <a:ln/>
        </p:spPr>
        <p:txBody>
          <a:bodyPr wrap="square" lIns="0" tIns="0" rIns="0" bIns="0" rtlCol="0" anchor="t"/>
          <a:lstStyle/>
          <a:p>
            <a:pPr marL="0" indent="0" algn="l">
              <a:lnSpc>
                <a:spcPts val="1800"/>
              </a:lnSpc>
              <a:spcAft>
                <a:spcPts val="600"/>
              </a:spcAft>
              <a:buNone/>
            </a:pPr>
            <a:r>
              <a:rPr lang="en-US" sz="1200" b="1" dirty="0">
                <a:solidFill>
                  <a:srgbClr val="0C4A6E"/>
                </a:solidFill>
                <a:latin typeface="Arial" pitchFamily="34" charset="0"/>
                <a:ea typeface="Arial" pitchFamily="34" charset="-122"/>
                <a:cs typeface="Arial" pitchFamily="34" charset="-120"/>
              </a:rPr>
              <a:t>Core DAX Measures</a:t>
            </a:r>
            <a:endParaRPr lang="en-US" sz="1200" dirty="0"/>
          </a:p>
        </p:txBody>
      </p:sp>
      <p:sp>
        <p:nvSpPr>
          <p:cNvPr id="5" name="Text 3"/>
          <p:cNvSpPr/>
          <p:nvPr/>
        </p:nvSpPr>
        <p:spPr>
          <a:xfrm>
            <a:off x="228600" y="2214563"/>
            <a:ext cx="4517082" cy="514350"/>
          </a:xfrm>
          <a:prstGeom prst="roundRect">
            <a:avLst>
              <a:gd name="adj" fmla="val 11111"/>
            </a:avLst>
          </a:prstGeom>
          <a:solidFill>
            <a:srgbClr val="1E293B"/>
          </a:solidFill>
          <a:ln/>
        </p:spPr>
        <p:txBody>
          <a:bodyPr wrap="square" rtlCol="0" anchor="ctr"/>
          <a:lstStyle/>
          <a:p>
            <a:pPr marL="0" indent="0">
              <a:buNone/>
            </a:pPr>
            <a:endParaRPr lang="en-US" dirty="0"/>
          </a:p>
        </p:txBody>
      </p:sp>
      <p:sp>
        <p:nvSpPr>
          <p:cNvPr id="6" name="Text 4"/>
          <p:cNvSpPr/>
          <p:nvPr/>
        </p:nvSpPr>
        <p:spPr>
          <a:xfrm>
            <a:off x="342900" y="2328863"/>
            <a:ext cx="4374252" cy="133350"/>
          </a:xfrm>
          <a:prstGeom prst="rect">
            <a:avLst/>
          </a:prstGeom>
          <a:noFill/>
          <a:ln/>
        </p:spPr>
        <p:txBody>
          <a:bodyPr wrap="square" lIns="0" tIns="0" rIns="0" bIns="0" rtlCol="0" anchor="t"/>
          <a:lstStyle/>
          <a:p>
            <a:pPr marL="0" indent="0" algn="l">
              <a:lnSpc>
                <a:spcPts val="1050"/>
              </a:lnSpc>
              <a:spcAft>
                <a:spcPts val="150"/>
              </a:spcAft>
              <a:buNone/>
            </a:pPr>
            <a:r>
              <a:rPr lang="en-US" sz="750" dirty="0">
                <a:solidFill>
                  <a:srgbClr val="94A3B8"/>
                </a:solidFill>
                <a:latin typeface="Arial" pitchFamily="34" charset="0"/>
                <a:ea typeface="Arial" pitchFamily="34" charset="-122"/>
                <a:cs typeface="Arial" pitchFamily="34" charset="-120"/>
              </a:rPr>
              <a:t>-- Total Hospital Count</a:t>
            </a:r>
            <a:endParaRPr lang="en-US" sz="750" dirty="0"/>
          </a:p>
        </p:txBody>
      </p:sp>
      <p:sp>
        <p:nvSpPr>
          <p:cNvPr id="7" name="Text 5"/>
          <p:cNvSpPr/>
          <p:nvPr/>
        </p:nvSpPr>
        <p:spPr>
          <a:xfrm>
            <a:off x="342900" y="2481263"/>
            <a:ext cx="4374252" cy="133350"/>
          </a:xfrm>
          <a:prstGeom prst="rect">
            <a:avLst/>
          </a:prstGeom>
          <a:noFill/>
          <a:ln/>
        </p:spPr>
        <p:txBody>
          <a:bodyPr wrap="square" lIns="0" tIns="0" rIns="0" bIns="0" rtlCol="0" anchor="t"/>
          <a:lstStyle/>
          <a:p>
            <a:pPr marL="0" indent="0" algn="l">
              <a:lnSpc>
                <a:spcPts val="1050"/>
              </a:lnSpc>
              <a:buNone/>
            </a:pPr>
            <a:r>
              <a:rPr lang="en-US" sz="750" dirty="0">
                <a:solidFill>
                  <a:srgbClr val="22D3EE"/>
                </a:solidFill>
                <a:latin typeface="Arial" pitchFamily="34" charset="0"/>
                <a:ea typeface="Arial" pitchFamily="34" charset="-122"/>
                <a:cs typeface="Arial" pitchFamily="34" charset="-120"/>
              </a:rPr>
              <a:t>COUNTROWS(Hospital)</a:t>
            </a:r>
            <a:endParaRPr lang="en-US" sz="750" dirty="0"/>
          </a:p>
        </p:txBody>
      </p:sp>
      <p:sp>
        <p:nvSpPr>
          <p:cNvPr id="8" name="Text 6"/>
          <p:cNvSpPr/>
          <p:nvPr/>
        </p:nvSpPr>
        <p:spPr>
          <a:xfrm>
            <a:off x="228600" y="2805113"/>
            <a:ext cx="4517082" cy="514350"/>
          </a:xfrm>
          <a:prstGeom prst="roundRect">
            <a:avLst>
              <a:gd name="adj" fmla="val 11111"/>
            </a:avLst>
          </a:prstGeom>
          <a:solidFill>
            <a:srgbClr val="1E293B"/>
          </a:solidFill>
          <a:ln/>
        </p:spPr>
        <p:txBody>
          <a:bodyPr wrap="square" rtlCol="0" anchor="ctr"/>
          <a:lstStyle/>
          <a:p>
            <a:pPr marL="0" indent="0">
              <a:buNone/>
            </a:pPr>
            <a:endParaRPr lang="en-US" dirty="0"/>
          </a:p>
        </p:txBody>
      </p:sp>
      <p:sp>
        <p:nvSpPr>
          <p:cNvPr id="9" name="Text 7"/>
          <p:cNvSpPr/>
          <p:nvPr/>
        </p:nvSpPr>
        <p:spPr>
          <a:xfrm>
            <a:off x="342900" y="2919413"/>
            <a:ext cx="4374252" cy="133350"/>
          </a:xfrm>
          <a:prstGeom prst="rect">
            <a:avLst/>
          </a:prstGeom>
          <a:noFill/>
          <a:ln/>
        </p:spPr>
        <p:txBody>
          <a:bodyPr wrap="square" lIns="0" tIns="0" rIns="0" bIns="0" rtlCol="0" anchor="t"/>
          <a:lstStyle/>
          <a:p>
            <a:pPr marL="0" indent="0" algn="l">
              <a:lnSpc>
                <a:spcPts val="1050"/>
              </a:lnSpc>
              <a:spcAft>
                <a:spcPts val="150"/>
              </a:spcAft>
              <a:buNone/>
            </a:pPr>
            <a:r>
              <a:rPr lang="en-US" sz="750" dirty="0">
                <a:solidFill>
                  <a:srgbClr val="94A3B8"/>
                </a:solidFill>
                <a:latin typeface="Arial" pitchFamily="34" charset="0"/>
                <a:ea typeface="Arial" pitchFamily="34" charset="-122"/>
                <a:cs typeface="Arial" pitchFamily="34" charset="-120"/>
              </a:rPr>
              <a:t>-- High-Performing %</a:t>
            </a:r>
            <a:endParaRPr lang="en-US" sz="750" dirty="0"/>
          </a:p>
        </p:txBody>
      </p:sp>
      <p:sp>
        <p:nvSpPr>
          <p:cNvPr id="10" name="Text 8"/>
          <p:cNvSpPr/>
          <p:nvPr/>
        </p:nvSpPr>
        <p:spPr>
          <a:xfrm>
            <a:off x="342900" y="3071813"/>
            <a:ext cx="4374252" cy="133350"/>
          </a:xfrm>
          <a:prstGeom prst="rect">
            <a:avLst/>
          </a:prstGeom>
          <a:noFill/>
          <a:ln/>
        </p:spPr>
        <p:txBody>
          <a:bodyPr wrap="square" lIns="0" tIns="0" rIns="0" bIns="0" rtlCol="0" anchor="t"/>
          <a:lstStyle/>
          <a:p>
            <a:pPr marL="0" indent="0" algn="l">
              <a:lnSpc>
                <a:spcPts val="1050"/>
              </a:lnSpc>
              <a:buNone/>
            </a:pPr>
            <a:r>
              <a:rPr lang="en-US" sz="750" dirty="0">
                <a:solidFill>
                  <a:srgbClr val="22D3EE"/>
                </a:solidFill>
                <a:latin typeface="Arial" pitchFamily="34" charset="0"/>
                <a:ea typeface="Arial" pitchFamily="34" charset="-122"/>
                <a:cs typeface="Arial" pitchFamily="34" charset="-120"/>
              </a:rPr>
              <a:t>DIVIDE(CALCULATE(...), Total)</a:t>
            </a:r>
            <a:endParaRPr lang="en-US" sz="750" dirty="0"/>
          </a:p>
        </p:txBody>
      </p:sp>
      <p:sp>
        <p:nvSpPr>
          <p:cNvPr id="11" name="Text 9"/>
          <p:cNvSpPr/>
          <p:nvPr/>
        </p:nvSpPr>
        <p:spPr>
          <a:xfrm>
            <a:off x="228600" y="3395663"/>
            <a:ext cx="4517082" cy="514350"/>
          </a:xfrm>
          <a:prstGeom prst="roundRect">
            <a:avLst>
              <a:gd name="adj" fmla="val 11111"/>
            </a:avLst>
          </a:prstGeom>
          <a:solidFill>
            <a:srgbClr val="1E293B"/>
          </a:solidFill>
          <a:ln/>
        </p:spPr>
        <p:txBody>
          <a:bodyPr wrap="square" rtlCol="0" anchor="ctr"/>
          <a:lstStyle/>
          <a:p>
            <a:pPr marL="0" indent="0">
              <a:buNone/>
            </a:pPr>
            <a:endParaRPr lang="en-US" dirty="0"/>
          </a:p>
        </p:txBody>
      </p:sp>
      <p:sp>
        <p:nvSpPr>
          <p:cNvPr id="12" name="Text 10"/>
          <p:cNvSpPr/>
          <p:nvPr/>
        </p:nvSpPr>
        <p:spPr>
          <a:xfrm>
            <a:off x="342900" y="3509963"/>
            <a:ext cx="4374252" cy="133350"/>
          </a:xfrm>
          <a:prstGeom prst="rect">
            <a:avLst/>
          </a:prstGeom>
          <a:noFill/>
          <a:ln/>
        </p:spPr>
        <p:txBody>
          <a:bodyPr wrap="square" lIns="0" tIns="0" rIns="0" bIns="0" rtlCol="0" anchor="t"/>
          <a:lstStyle/>
          <a:p>
            <a:pPr marL="0" indent="0" algn="l">
              <a:lnSpc>
                <a:spcPts val="1050"/>
              </a:lnSpc>
              <a:spcAft>
                <a:spcPts val="150"/>
              </a:spcAft>
              <a:buNone/>
            </a:pPr>
            <a:r>
              <a:rPr lang="en-US" sz="750" dirty="0">
                <a:solidFill>
                  <a:srgbClr val="94A3B8"/>
                </a:solidFill>
                <a:latin typeface="Arial" pitchFamily="34" charset="0"/>
                <a:ea typeface="Arial" pitchFamily="34" charset="-122"/>
                <a:cs typeface="Arial" pitchFamily="34" charset="-120"/>
              </a:rPr>
              <a:t>-- Scenario Logic</a:t>
            </a:r>
            <a:endParaRPr lang="en-US" sz="750" dirty="0"/>
          </a:p>
        </p:txBody>
      </p:sp>
      <p:sp>
        <p:nvSpPr>
          <p:cNvPr id="13" name="Text 11"/>
          <p:cNvSpPr/>
          <p:nvPr/>
        </p:nvSpPr>
        <p:spPr>
          <a:xfrm>
            <a:off x="342900" y="3662362"/>
            <a:ext cx="4374252" cy="133350"/>
          </a:xfrm>
          <a:prstGeom prst="rect">
            <a:avLst/>
          </a:prstGeom>
          <a:noFill/>
          <a:ln/>
        </p:spPr>
        <p:txBody>
          <a:bodyPr wrap="square" lIns="0" tIns="0" rIns="0" bIns="0" rtlCol="0" anchor="t"/>
          <a:lstStyle/>
          <a:p>
            <a:pPr marL="0" indent="0" algn="l">
              <a:lnSpc>
                <a:spcPts val="1050"/>
              </a:lnSpc>
              <a:buNone/>
            </a:pPr>
            <a:r>
              <a:rPr lang="en-US" sz="750" dirty="0">
                <a:solidFill>
                  <a:srgbClr val="FBBF24"/>
                </a:solidFill>
                <a:latin typeface="Arial" pitchFamily="34" charset="0"/>
                <a:ea typeface="Arial" pitchFamily="34" charset="-122"/>
                <a:cs typeface="Arial" pitchFamily="34" charset="-120"/>
              </a:rPr>
              <a:t>VAR + CALCULATE + FILTER</a:t>
            </a:r>
            <a:endParaRPr lang="en-US" sz="750" dirty="0"/>
          </a:p>
        </p:txBody>
      </p:sp>
      <p:sp>
        <p:nvSpPr>
          <p:cNvPr id="14" name="Text 12"/>
          <p:cNvSpPr/>
          <p:nvPr/>
        </p:nvSpPr>
        <p:spPr>
          <a:xfrm>
            <a:off x="4898082" y="1270695"/>
            <a:ext cx="3987150" cy="228600"/>
          </a:xfrm>
          <a:prstGeom prst="rect">
            <a:avLst/>
          </a:prstGeom>
          <a:noFill/>
          <a:ln/>
        </p:spPr>
        <p:txBody>
          <a:bodyPr wrap="square" lIns="0" tIns="0" rIns="0" bIns="0" rtlCol="0" anchor="t"/>
          <a:lstStyle/>
          <a:p>
            <a:pPr marL="0" indent="0" algn="l">
              <a:lnSpc>
                <a:spcPts val="1800"/>
              </a:lnSpc>
              <a:spcAft>
                <a:spcPts val="600"/>
              </a:spcAft>
              <a:buNone/>
            </a:pPr>
            <a:r>
              <a:rPr lang="en-US" sz="1200" b="1" dirty="0">
                <a:solidFill>
                  <a:srgbClr val="0C4A6E"/>
                </a:solidFill>
                <a:latin typeface="Arial" pitchFamily="34" charset="0"/>
                <a:ea typeface="Arial" pitchFamily="34" charset="-122"/>
                <a:cs typeface="Arial" pitchFamily="34" charset="-120"/>
              </a:rPr>
              <a:t>DAX Techniques</a:t>
            </a:r>
            <a:endParaRPr lang="en-US" sz="1200" dirty="0"/>
          </a:p>
        </p:txBody>
      </p:sp>
      <p:sp>
        <p:nvSpPr>
          <p:cNvPr id="15" name="Text 13"/>
          <p:cNvSpPr/>
          <p:nvPr/>
        </p:nvSpPr>
        <p:spPr>
          <a:xfrm>
            <a:off x="4898082" y="1575495"/>
            <a:ext cx="3908971" cy="588615"/>
          </a:xfrm>
          <a:prstGeom prst="roundRect">
            <a:avLst>
              <a:gd name="adj" fmla="val 9709"/>
            </a:avLst>
          </a:prstGeom>
          <a:solidFill>
            <a:srgbClr val="FFFFFF"/>
          </a:solidFill>
          <a:ln w="19050">
            <a:solidFill>
              <a:srgbClr val="0891B2"/>
            </a:solidFill>
          </a:ln>
        </p:spPr>
        <p:txBody>
          <a:bodyPr wrap="square" rtlCol="0" anchor="ctr"/>
          <a:lstStyle/>
          <a:p>
            <a:pPr marL="0" indent="0">
              <a:buNone/>
            </a:pPr>
            <a:endParaRPr lang="en-US" dirty="0"/>
          </a:p>
        </p:txBody>
      </p:sp>
      <p:sp>
        <p:nvSpPr>
          <p:cNvPr id="16" name="Text 14"/>
          <p:cNvSpPr/>
          <p:nvPr/>
        </p:nvSpPr>
        <p:spPr>
          <a:xfrm>
            <a:off x="5031432" y="1708845"/>
            <a:ext cx="37151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Context Manipulation</a:t>
            </a:r>
            <a:endParaRPr lang="en-US" sz="900" dirty="0"/>
          </a:p>
        </p:txBody>
      </p:sp>
      <p:sp>
        <p:nvSpPr>
          <p:cNvPr id="17" name="Text 15"/>
          <p:cNvSpPr/>
          <p:nvPr/>
        </p:nvSpPr>
        <p:spPr>
          <a:xfrm>
            <a:off x="5031432" y="1906935"/>
            <a:ext cx="3715116" cy="123825"/>
          </a:xfrm>
          <a:prstGeom prst="rect">
            <a:avLst/>
          </a:prstGeom>
          <a:noFill/>
          <a:ln/>
        </p:spPr>
        <p:txBody>
          <a:bodyPr wrap="square" lIns="0" tIns="0" rIns="0" bIns="0" rtlCol="0" anchor="t"/>
          <a:lstStyle/>
          <a:p>
            <a:pPr marL="0" indent="0" algn="l">
              <a:lnSpc>
                <a:spcPts val="975"/>
              </a:lnSpc>
              <a:buNone/>
            </a:pPr>
            <a:r>
              <a:rPr lang="en-US" sz="750" dirty="0">
                <a:solidFill>
                  <a:srgbClr val="1E293B"/>
                </a:solidFill>
                <a:latin typeface="Arial" pitchFamily="34" charset="0"/>
                <a:ea typeface="Arial" pitchFamily="34" charset="-122"/>
                <a:cs typeface="Arial" pitchFamily="34" charset="-120"/>
              </a:rPr>
              <a:t>CALCULATE, FILTER, ALL</a:t>
            </a:r>
            <a:endParaRPr lang="en-US" sz="750" dirty="0"/>
          </a:p>
        </p:txBody>
      </p:sp>
      <p:sp>
        <p:nvSpPr>
          <p:cNvPr id="18" name="Text 16"/>
          <p:cNvSpPr/>
          <p:nvPr/>
        </p:nvSpPr>
        <p:spPr>
          <a:xfrm>
            <a:off x="4898082" y="2240310"/>
            <a:ext cx="3908971" cy="588615"/>
          </a:xfrm>
          <a:prstGeom prst="roundRect">
            <a:avLst>
              <a:gd name="adj" fmla="val 9709"/>
            </a:avLst>
          </a:prstGeom>
          <a:solidFill>
            <a:srgbClr val="FFFFFF"/>
          </a:solidFill>
          <a:ln w="19050">
            <a:solidFill>
              <a:srgbClr val="0891B2"/>
            </a:solidFill>
          </a:ln>
        </p:spPr>
        <p:txBody>
          <a:bodyPr wrap="square" rtlCol="0" anchor="ctr"/>
          <a:lstStyle/>
          <a:p>
            <a:pPr marL="0" indent="0">
              <a:buNone/>
            </a:pPr>
            <a:endParaRPr lang="en-US" dirty="0"/>
          </a:p>
        </p:txBody>
      </p:sp>
      <p:sp>
        <p:nvSpPr>
          <p:cNvPr id="19" name="Text 17"/>
          <p:cNvSpPr/>
          <p:nvPr/>
        </p:nvSpPr>
        <p:spPr>
          <a:xfrm>
            <a:off x="5031432" y="2373660"/>
            <a:ext cx="37151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Variables</a:t>
            </a:r>
            <a:endParaRPr lang="en-US" sz="900" dirty="0"/>
          </a:p>
        </p:txBody>
      </p:sp>
      <p:sp>
        <p:nvSpPr>
          <p:cNvPr id="20" name="Text 18"/>
          <p:cNvSpPr/>
          <p:nvPr/>
        </p:nvSpPr>
        <p:spPr>
          <a:xfrm>
            <a:off x="5031432" y="2571750"/>
            <a:ext cx="3715116" cy="123825"/>
          </a:xfrm>
          <a:prstGeom prst="rect">
            <a:avLst/>
          </a:prstGeom>
          <a:noFill/>
          <a:ln/>
        </p:spPr>
        <p:txBody>
          <a:bodyPr wrap="square" lIns="0" tIns="0" rIns="0" bIns="0" rtlCol="0" anchor="t"/>
          <a:lstStyle/>
          <a:p>
            <a:pPr marL="0" indent="0" algn="l">
              <a:lnSpc>
                <a:spcPts val="975"/>
              </a:lnSpc>
              <a:buNone/>
            </a:pPr>
            <a:r>
              <a:rPr lang="en-US" sz="750" dirty="0">
                <a:solidFill>
                  <a:srgbClr val="1E293B"/>
                </a:solidFill>
                <a:latin typeface="Arial" pitchFamily="34" charset="0"/>
                <a:ea typeface="Arial" pitchFamily="34" charset="-122"/>
                <a:cs typeface="Arial" pitchFamily="34" charset="-120"/>
              </a:rPr>
              <a:t>VAR for performance</a:t>
            </a:r>
            <a:endParaRPr lang="en-US" sz="750" dirty="0"/>
          </a:p>
        </p:txBody>
      </p:sp>
      <p:sp>
        <p:nvSpPr>
          <p:cNvPr id="21" name="Text 19"/>
          <p:cNvSpPr/>
          <p:nvPr/>
        </p:nvSpPr>
        <p:spPr>
          <a:xfrm>
            <a:off x="4898082" y="2905125"/>
            <a:ext cx="3908971" cy="588615"/>
          </a:xfrm>
          <a:prstGeom prst="roundRect">
            <a:avLst>
              <a:gd name="adj" fmla="val 9709"/>
            </a:avLst>
          </a:prstGeom>
          <a:solidFill>
            <a:srgbClr val="FFFFFF"/>
          </a:solidFill>
          <a:ln w="19050">
            <a:solidFill>
              <a:srgbClr val="0891B2"/>
            </a:solidFill>
          </a:ln>
        </p:spPr>
        <p:txBody>
          <a:bodyPr wrap="square" rtlCol="0" anchor="ctr"/>
          <a:lstStyle/>
          <a:p>
            <a:pPr marL="0" indent="0">
              <a:buNone/>
            </a:pPr>
            <a:endParaRPr lang="en-US" dirty="0"/>
          </a:p>
        </p:txBody>
      </p:sp>
      <p:sp>
        <p:nvSpPr>
          <p:cNvPr id="22" name="Text 20"/>
          <p:cNvSpPr/>
          <p:nvPr/>
        </p:nvSpPr>
        <p:spPr>
          <a:xfrm>
            <a:off x="5031432" y="3038475"/>
            <a:ext cx="37151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Aggregations</a:t>
            </a:r>
            <a:endParaRPr lang="en-US" sz="900" dirty="0"/>
          </a:p>
        </p:txBody>
      </p:sp>
      <p:sp>
        <p:nvSpPr>
          <p:cNvPr id="23" name="Text 21"/>
          <p:cNvSpPr/>
          <p:nvPr/>
        </p:nvSpPr>
        <p:spPr>
          <a:xfrm>
            <a:off x="5031432" y="3236565"/>
            <a:ext cx="3715116" cy="123825"/>
          </a:xfrm>
          <a:prstGeom prst="rect">
            <a:avLst/>
          </a:prstGeom>
          <a:noFill/>
          <a:ln/>
        </p:spPr>
        <p:txBody>
          <a:bodyPr wrap="square" lIns="0" tIns="0" rIns="0" bIns="0" rtlCol="0" anchor="t"/>
          <a:lstStyle/>
          <a:p>
            <a:pPr marL="0" indent="0" algn="l">
              <a:lnSpc>
                <a:spcPts val="975"/>
              </a:lnSpc>
              <a:buNone/>
            </a:pPr>
            <a:r>
              <a:rPr lang="en-US" sz="750" dirty="0">
                <a:solidFill>
                  <a:srgbClr val="1E293B"/>
                </a:solidFill>
                <a:latin typeface="Arial" pitchFamily="34" charset="0"/>
                <a:ea typeface="Arial" pitchFamily="34" charset="-122"/>
                <a:cs typeface="Arial" pitchFamily="34" charset="-120"/>
              </a:rPr>
              <a:t>COUNTROWS, SUMX, AVERAGEX</a:t>
            </a:r>
            <a:endParaRPr lang="en-US" sz="750" dirty="0"/>
          </a:p>
        </p:txBody>
      </p:sp>
      <p:sp>
        <p:nvSpPr>
          <p:cNvPr id="24" name="Text 22"/>
          <p:cNvSpPr/>
          <p:nvPr/>
        </p:nvSpPr>
        <p:spPr>
          <a:xfrm>
            <a:off x="4898082" y="3569940"/>
            <a:ext cx="3908971" cy="588615"/>
          </a:xfrm>
          <a:prstGeom prst="roundRect">
            <a:avLst>
              <a:gd name="adj" fmla="val 9709"/>
            </a:avLst>
          </a:prstGeom>
          <a:solidFill>
            <a:srgbClr val="FFFFFF"/>
          </a:solidFill>
          <a:ln w="19050">
            <a:solidFill>
              <a:srgbClr val="0891B2"/>
            </a:solidFill>
          </a:ln>
        </p:spPr>
        <p:txBody>
          <a:bodyPr wrap="square" rtlCol="0" anchor="ctr"/>
          <a:lstStyle/>
          <a:p>
            <a:pPr marL="0" indent="0">
              <a:buNone/>
            </a:pPr>
            <a:endParaRPr lang="en-US" dirty="0"/>
          </a:p>
        </p:txBody>
      </p:sp>
      <p:sp>
        <p:nvSpPr>
          <p:cNvPr id="25" name="Text 23"/>
          <p:cNvSpPr/>
          <p:nvPr/>
        </p:nvSpPr>
        <p:spPr>
          <a:xfrm>
            <a:off x="5031432" y="3703290"/>
            <a:ext cx="37151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0891B2"/>
                </a:solidFill>
                <a:latin typeface="Arial" pitchFamily="34" charset="0"/>
                <a:ea typeface="Arial" pitchFamily="34" charset="-122"/>
                <a:cs typeface="Arial" pitchFamily="34" charset="-120"/>
              </a:rPr>
              <a:t>Error Handling</a:t>
            </a:r>
            <a:endParaRPr lang="en-US" sz="900" dirty="0"/>
          </a:p>
        </p:txBody>
      </p:sp>
      <p:sp>
        <p:nvSpPr>
          <p:cNvPr id="26" name="Text 24"/>
          <p:cNvSpPr/>
          <p:nvPr/>
        </p:nvSpPr>
        <p:spPr>
          <a:xfrm>
            <a:off x="5031432" y="3901380"/>
            <a:ext cx="3715116" cy="123825"/>
          </a:xfrm>
          <a:prstGeom prst="rect">
            <a:avLst/>
          </a:prstGeom>
          <a:noFill/>
          <a:ln/>
        </p:spPr>
        <p:txBody>
          <a:bodyPr wrap="square" lIns="0" tIns="0" rIns="0" bIns="0" rtlCol="0" anchor="t"/>
          <a:lstStyle/>
          <a:p>
            <a:pPr marL="0" indent="0" algn="l">
              <a:lnSpc>
                <a:spcPts val="975"/>
              </a:lnSpc>
              <a:buNone/>
            </a:pPr>
            <a:r>
              <a:rPr lang="en-US" sz="750" dirty="0">
                <a:solidFill>
                  <a:srgbClr val="1E293B"/>
                </a:solidFill>
                <a:latin typeface="Arial" pitchFamily="34" charset="0"/>
                <a:ea typeface="Arial" pitchFamily="34" charset="-122"/>
                <a:cs typeface="Arial" pitchFamily="34" charset="-120"/>
              </a:rPr>
              <a:t>DIVIDE, IFERROR</a:t>
            </a:r>
            <a:endParaRPr lang="en-US" sz="750" dirty="0"/>
          </a:p>
        </p:txBody>
      </p:sp>
      <p:sp>
        <p:nvSpPr>
          <p:cNvPr id="27" name="Text 25"/>
          <p:cNvSpPr/>
          <p:nvPr/>
        </p:nvSpPr>
        <p:spPr>
          <a:xfrm>
            <a:off x="4898082" y="4234755"/>
            <a:ext cx="3908971" cy="314325"/>
          </a:xfrm>
          <a:prstGeom prst="roundRect">
            <a:avLst>
              <a:gd name="adj" fmla="val 12121"/>
            </a:avLst>
          </a:prstGeom>
          <a:solidFill>
            <a:srgbClr val="FFF3CD"/>
          </a:solidFill>
          <a:ln/>
        </p:spPr>
        <p:txBody>
          <a:bodyPr wrap="square" rtlCol="0" anchor="ctr"/>
          <a:lstStyle/>
          <a:p>
            <a:pPr marL="0" indent="0">
              <a:buNone/>
            </a:pPr>
            <a:endParaRPr lang="en-US" dirty="0"/>
          </a:p>
        </p:txBody>
      </p:sp>
      <p:sp>
        <p:nvSpPr>
          <p:cNvPr id="28" name="Shape 26"/>
          <p:cNvSpPr/>
          <p:nvPr/>
        </p:nvSpPr>
        <p:spPr>
          <a:xfrm>
            <a:off x="4917132" y="4234755"/>
            <a:ext cx="0" cy="314325"/>
          </a:xfrm>
          <a:prstGeom prst="line">
            <a:avLst/>
          </a:prstGeom>
          <a:noFill/>
          <a:ln w="38100">
            <a:solidFill>
              <a:srgbClr val="FBBF24"/>
            </a:solidFill>
            <a:prstDash val="solid"/>
          </a:ln>
        </p:spPr>
      </p:sp>
      <p:sp>
        <p:nvSpPr>
          <p:cNvPr id="29" name="Text 27"/>
          <p:cNvSpPr/>
          <p:nvPr/>
        </p:nvSpPr>
        <p:spPr>
          <a:xfrm>
            <a:off x="5031432" y="4330005"/>
            <a:ext cx="3753978" cy="123825"/>
          </a:xfrm>
          <a:prstGeom prst="rect">
            <a:avLst/>
          </a:prstGeom>
          <a:noFill/>
          <a:ln/>
        </p:spPr>
        <p:txBody>
          <a:bodyPr wrap="square" lIns="0" tIns="0" rIns="0" bIns="0" rtlCol="0" anchor="t"/>
          <a:lstStyle/>
          <a:p>
            <a:pPr marL="0" indent="0" algn="l">
              <a:lnSpc>
                <a:spcPts val="975"/>
              </a:lnSpc>
              <a:buNone/>
            </a:pPr>
            <a:r>
              <a:rPr lang="en-US" sz="750" dirty="0">
                <a:solidFill>
                  <a:srgbClr val="78350F"/>
                </a:solidFill>
                <a:latin typeface="Arial" pitchFamily="34" charset="0"/>
                <a:ea typeface="Arial" pitchFamily="34" charset="-122"/>
                <a:cs typeface="Arial" pitchFamily="34" charset="-120"/>
              </a:rPr>
              <a:t>130+ measures validated against Power Query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228600" y="228600"/>
            <a:ext cx="4439984" cy="381000"/>
          </a:xfrm>
          <a:prstGeom prst="rect">
            <a:avLst/>
          </a:prstGeom>
          <a:noFill/>
          <a:ln/>
        </p:spPr>
        <p:txBody>
          <a:bodyPr wrap="square" lIns="0" tIns="0" rIns="0" bIns="0" rtlCol="0" anchor="t"/>
          <a:lstStyle/>
          <a:p>
            <a:pPr marL="0" indent="0" algn="l">
              <a:lnSpc>
                <a:spcPts val="3000"/>
              </a:lnSpc>
              <a:spcAft>
                <a:spcPts val="300"/>
              </a:spcAft>
              <a:buNone/>
            </a:pPr>
            <a:r>
              <a:rPr lang="en-US" sz="2700" b="1" dirty="0">
                <a:solidFill>
                  <a:srgbClr val="0C4A6E"/>
                </a:solidFill>
                <a:latin typeface="Arial" pitchFamily="34" charset="0"/>
                <a:ea typeface="Arial" pitchFamily="34" charset="-122"/>
                <a:cs typeface="Arial" pitchFamily="34" charset="-120"/>
              </a:rPr>
              <a:t>Deployment &amp; Validation</a:t>
            </a:r>
            <a:endParaRPr lang="en-US" sz="2700" dirty="0"/>
          </a:p>
        </p:txBody>
      </p:sp>
      <p:sp>
        <p:nvSpPr>
          <p:cNvPr id="3" name="Text 1"/>
          <p:cNvSpPr/>
          <p:nvPr/>
        </p:nvSpPr>
        <p:spPr>
          <a:xfrm>
            <a:off x="228600" y="647700"/>
            <a:ext cx="1143000" cy="2857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228600" y="904875"/>
            <a:ext cx="4169569" cy="1424583"/>
          </a:xfrm>
          <a:prstGeom prst="roundRect">
            <a:avLst>
              <a:gd name="adj" fmla="val 5349"/>
            </a:avLst>
          </a:prstGeom>
          <a:solidFill>
            <a:srgbClr val="FFFFFF"/>
          </a:solidFill>
          <a:ln w="19050">
            <a:solidFill>
              <a:srgbClr val="0C4A6E"/>
            </a:solidFill>
          </a:ln>
        </p:spPr>
        <p:txBody>
          <a:bodyPr wrap="square" rtlCol="0" anchor="ctr"/>
          <a:lstStyle/>
          <a:p>
            <a:pPr marL="0" indent="0">
              <a:buNone/>
            </a:pPr>
            <a:endParaRPr lang="en-US" dirty="0"/>
          </a:p>
        </p:txBody>
      </p:sp>
      <p:sp>
        <p:nvSpPr>
          <p:cNvPr id="5" name="Text 3"/>
          <p:cNvSpPr/>
          <p:nvPr/>
        </p:nvSpPr>
        <p:spPr>
          <a:xfrm>
            <a:off x="400050" y="1076325"/>
            <a:ext cx="3903202" cy="228600"/>
          </a:xfrm>
          <a:prstGeom prst="rect">
            <a:avLst/>
          </a:prstGeom>
          <a:noFill/>
          <a:ln/>
        </p:spPr>
        <p:txBody>
          <a:bodyPr wrap="square" lIns="0" tIns="0" rIns="0" bIns="0" rtlCol="0" anchor="t"/>
          <a:lstStyle/>
          <a:p>
            <a:pPr marL="0" indent="0" algn="l">
              <a:lnSpc>
                <a:spcPts val="1800"/>
              </a:lnSpc>
              <a:spcAft>
                <a:spcPts val="750"/>
              </a:spcAft>
              <a:buNone/>
            </a:pPr>
            <a:r>
              <a:rPr lang="en-US" sz="1200" b="1" dirty="0">
                <a:solidFill>
                  <a:srgbClr val="0C4A6E"/>
                </a:solidFill>
                <a:latin typeface="Arial" pitchFamily="34" charset="0"/>
                <a:ea typeface="Arial" pitchFamily="34" charset="-122"/>
                <a:cs typeface="Arial" pitchFamily="34" charset="-120"/>
              </a:rPr>
              <a:t>Deployment Process</a:t>
            </a:r>
            <a:endParaRPr lang="en-US" sz="1200" dirty="0"/>
          </a:p>
        </p:txBody>
      </p:sp>
      <p:sp>
        <p:nvSpPr>
          <p:cNvPr id="6" name="Text 4"/>
          <p:cNvSpPr/>
          <p:nvPr/>
        </p:nvSpPr>
        <p:spPr>
          <a:xfrm>
            <a:off x="400050" y="1400175"/>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1. Power BI Service:</a:t>
            </a:r>
            <a:r>
              <a:rPr lang="en-US" sz="825" dirty="0">
                <a:solidFill>
                  <a:srgbClr val="1E293B"/>
                </a:solidFill>
                <a:latin typeface="Arial" pitchFamily="34" charset="0"/>
                <a:ea typeface="Arial" pitchFamily="34" charset="-122"/>
                <a:cs typeface="Arial" pitchFamily="34" charset="-120"/>
              </a:rPr>
              <a:t> Published .pbix with version control</a:t>
            </a:r>
            <a:endParaRPr lang="en-US" sz="825" dirty="0"/>
          </a:p>
        </p:txBody>
      </p:sp>
      <p:sp>
        <p:nvSpPr>
          <p:cNvPr id="7" name="Text 5"/>
          <p:cNvSpPr/>
          <p:nvPr/>
        </p:nvSpPr>
        <p:spPr>
          <a:xfrm>
            <a:off x="400050" y="1603921"/>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2. Permissions:</a:t>
            </a:r>
            <a:r>
              <a:rPr lang="en-US" sz="825" dirty="0">
                <a:solidFill>
                  <a:srgbClr val="1E293B"/>
                </a:solidFill>
                <a:latin typeface="Arial" pitchFamily="34" charset="0"/>
                <a:ea typeface="Arial" pitchFamily="34" charset="-122"/>
                <a:cs typeface="Arial" pitchFamily="34" charset="-120"/>
              </a:rPr>
              <a:t> Role-based access configured</a:t>
            </a:r>
            <a:endParaRPr lang="en-US" sz="825" dirty="0"/>
          </a:p>
        </p:txBody>
      </p:sp>
      <p:sp>
        <p:nvSpPr>
          <p:cNvPr id="8" name="Text 6"/>
          <p:cNvSpPr/>
          <p:nvPr/>
        </p:nvSpPr>
        <p:spPr>
          <a:xfrm>
            <a:off x="400050" y="1807666"/>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3. Scheduled Refresh:</a:t>
            </a:r>
            <a:r>
              <a:rPr lang="en-US" sz="825" dirty="0">
                <a:solidFill>
                  <a:srgbClr val="1E293B"/>
                </a:solidFill>
                <a:latin typeface="Arial" pitchFamily="34" charset="0"/>
                <a:ea typeface="Arial" pitchFamily="34" charset="-122"/>
                <a:cs typeface="Arial" pitchFamily="34" charset="-120"/>
              </a:rPr>
              <a:t> Daily data updates</a:t>
            </a:r>
            <a:endParaRPr lang="en-US" sz="825" dirty="0"/>
          </a:p>
        </p:txBody>
      </p:sp>
      <p:sp>
        <p:nvSpPr>
          <p:cNvPr id="9" name="Text 7"/>
          <p:cNvSpPr/>
          <p:nvPr/>
        </p:nvSpPr>
        <p:spPr>
          <a:xfrm>
            <a:off x="400050" y="2011412"/>
            <a:ext cx="3903202" cy="146596"/>
          </a:xfrm>
          <a:prstGeom prst="rect">
            <a:avLst/>
          </a:prstGeom>
          <a:noFill/>
          <a:ln/>
        </p:spPr>
        <p:txBody>
          <a:bodyPr wrap="square" lIns="0" tIns="0" rIns="0" bIns="0" rtlCol="0" anchor="t"/>
          <a:lstStyle/>
          <a:p>
            <a:pPr marL="0" indent="0" algn="l">
              <a:lnSpc>
                <a:spcPts val="1155"/>
              </a:lnSpc>
              <a:buNone/>
            </a:pPr>
            <a:r>
              <a:rPr lang="en-US" sz="825" b="1" dirty="0">
                <a:solidFill>
                  <a:srgbClr val="0891B2"/>
                </a:solidFill>
                <a:latin typeface="Arial" pitchFamily="34" charset="0"/>
                <a:ea typeface="Arial" pitchFamily="34" charset="-122"/>
                <a:cs typeface="Arial" pitchFamily="34" charset="-120"/>
              </a:rPr>
              <a:t>4. Documentation:</a:t>
            </a:r>
            <a:r>
              <a:rPr lang="en-US" sz="825" dirty="0">
                <a:solidFill>
                  <a:srgbClr val="1E293B"/>
                </a:solidFill>
                <a:latin typeface="Arial" pitchFamily="34" charset="0"/>
                <a:ea typeface="Arial" pitchFamily="34" charset="-122"/>
                <a:cs typeface="Arial" pitchFamily="34" charset="-120"/>
              </a:rPr>
              <a:t> User guide created</a:t>
            </a:r>
            <a:endParaRPr lang="en-US" sz="825" dirty="0"/>
          </a:p>
        </p:txBody>
      </p:sp>
      <p:sp>
        <p:nvSpPr>
          <p:cNvPr id="10" name="Text 8"/>
          <p:cNvSpPr/>
          <p:nvPr/>
        </p:nvSpPr>
        <p:spPr>
          <a:xfrm>
            <a:off x="4550569" y="904875"/>
            <a:ext cx="4169569" cy="1424583"/>
          </a:xfrm>
          <a:prstGeom prst="roundRect">
            <a:avLst>
              <a:gd name="adj" fmla="val 5349"/>
            </a:avLst>
          </a:prstGeom>
          <a:solidFill>
            <a:srgbClr val="FFFFFF"/>
          </a:solidFill>
          <a:ln w="19050">
            <a:solidFill>
              <a:srgbClr val="0891B2"/>
            </a:solidFill>
          </a:ln>
        </p:spPr>
        <p:txBody>
          <a:bodyPr wrap="square" rtlCol="0" anchor="ctr"/>
          <a:lstStyle/>
          <a:p>
            <a:pPr marL="0" indent="0">
              <a:buNone/>
            </a:pPr>
            <a:endParaRPr lang="en-US" dirty="0"/>
          </a:p>
        </p:txBody>
      </p:sp>
      <p:sp>
        <p:nvSpPr>
          <p:cNvPr id="11" name="Text 9"/>
          <p:cNvSpPr/>
          <p:nvPr/>
        </p:nvSpPr>
        <p:spPr>
          <a:xfrm>
            <a:off x="4722019" y="1076325"/>
            <a:ext cx="3903202" cy="228600"/>
          </a:xfrm>
          <a:prstGeom prst="rect">
            <a:avLst/>
          </a:prstGeom>
          <a:noFill/>
          <a:ln/>
        </p:spPr>
        <p:txBody>
          <a:bodyPr wrap="square" lIns="0" tIns="0" rIns="0" bIns="0" rtlCol="0" anchor="t"/>
          <a:lstStyle/>
          <a:p>
            <a:pPr marL="0" indent="0" algn="l">
              <a:lnSpc>
                <a:spcPts val="1800"/>
              </a:lnSpc>
              <a:spcAft>
                <a:spcPts val="750"/>
              </a:spcAft>
              <a:buNone/>
            </a:pPr>
            <a:r>
              <a:rPr lang="en-US" sz="1200" b="1" dirty="0">
                <a:solidFill>
                  <a:srgbClr val="0C4A6E"/>
                </a:solidFill>
                <a:latin typeface="Arial" pitchFamily="34" charset="0"/>
                <a:ea typeface="Arial" pitchFamily="34" charset="-122"/>
                <a:cs typeface="Arial" pitchFamily="34" charset="-120"/>
              </a:rPr>
              <a:t>Validation Methods</a:t>
            </a:r>
            <a:endParaRPr lang="en-US" sz="1200" dirty="0"/>
          </a:p>
        </p:txBody>
      </p:sp>
      <p:sp>
        <p:nvSpPr>
          <p:cNvPr id="12" name="Text 10"/>
          <p:cNvSpPr/>
          <p:nvPr/>
        </p:nvSpPr>
        <p:spPr>
          <a:xfrm>
            <a:off x="4722019" y="1400175"/>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DAX Testing:</a:t>
            </a:r>
            <a:r>
              <a:rPr lang="en-US" sz="825" dirty="0">
                <a:solidFill>
                  <a:srgbClr val="1E293B"/>
                </a:solidFill>
                <a:latin typeface="Arial" pitchFamily="34" charset="0"/>
                <a:ea typeface="Arial" pitchFamily="34" charset="-122"/>
                <a:cs typeface="Arial" pitchFamily="34" charset="-120"/>
              </a:rPr>
              <a:t> Cross-validated formulas</a:t>
            </a:r>
            <a:endParaRPr lang="en-US" sz="825" dirty="0"/>
          </a:p>
        </p:txBody>
      </p:sp>
      <p:sp>
        <p:nvSpPr>
          <p:cNvPr id="13" name="Text 11"/>
          <p:cNvSpPr/>
          <p:nvPr/>
        </p:nvSpPr>
        <p:spPr>
          <a:xfrm>
            <a:off x="4722019" y="1603921"/>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Performance:</a:t>
            </a:r>
            <a:r>
              <a:rPr lang="en-US" sz="825" dirty="0">
                <a:solidFill>
                  <a:srgbClr val="1E293B"/>
                </a:solidFill>
                <a:latin typeface="Arial" pitchFamily="34" charset="0"/>
                <a:ea typeface="Arial" pitchFamily="34" charset="-122"/>
                <a:cs typeface="Arial" pitchFamily="34" charset="-120"/>
              </a:rPr>
              <a:t> Query response times measured</a:t>
            </a:r>
            <a:endParaRPr lang="en-US" sz="825" dirty="0"/>
          </a:p>
        </p:txBody>
      </p:sp>
      <p:sp>
        <p:nvSpPr>
          <p:cNvPr id="14" name="Text 12"/>
          <p:cNvSpPr/>
          <p:nvPr/>
        </p:nvSpPr>
        <p:spPr>
          <a:xfrm>
            <a:off x="4722019" y="1807666"/>
            <a:ext cx="39032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891B2"/>
                </a:solidFill>
                <a:latin typeface="Arial" pitchFamily="34" charset="0"/>
                <a:ea typeface="Arial" pitchFamily="34" charset="-122"/>
                <a:cs typeface="Arial" pitchFamily="34" charset="-120"/>
              </a:rPr>
              <a:t>UAT:</a:t>
            </a:r>
            <a:r>
              <a:rPr lang="en-US" sz="825" dirty="0">
                <a:solidFill>
                  <a:srgbClr val="1E293B"/>
                </a:solidFill>
                <a:latin typeface="Arial" pitchFamily="34" charset="0"/>
                <a:ea typeface="Arial" pitchFamily="34" charset="-122"/>
                <a:cs typeface="Arial" pitchFamily="34" charset="-120"/>
              </a:rPr>
              <a:t> Stakeholder review completed</a:t>
            </a:r>
            <a:endParaRPr lang="en-US" sz="825" dirty="0"/>
          </a:p>
        </p:txBody>
      </p:sp>
      <p:sp>
        <p:nvSpPr>
          <p:cNvPr id="15" name="Text 13"/>
          <p:cNvSpPr/>
          <p:nvPr/>
        </p:nvSpPr>
        <p:spPr>
          <a:xfrm>
            <a:off x="4722019" y="2011412"/>
            <a:ext cx="3903202" cy="146596"/>
          </a:xfrm>
          <a:prstGeom prst="rect">
            <a:avLst/>
          </a:prstGeom>
          <a:noFill/>
          <a:ln/>
        </p:spPr>
        <p:txBody>
          <a:bodyPr wrap="square" lIns="0" tIns="0" rIns="0" bIns="0" rtlCol="0" anchor="t"/>
          <a:lstStyle/>
          <a:p>
            <a:pPr marL="0" indent="0" algn="l">
              <a:lnSpc>
                <a:spcPts val="1155"/>
              </a:lnSpc>
              <a:buNone/>
            </a:pPr>
            <a:r>
              <a:rPr lang="en-US" sz="825" b="1" dirty="0">
                <a:solidFill>
                  <a:srgbClr val="0891B2"/>
                </a:solidFill>
                <a:latin typeface="Arial" pitchFamily="34" charset="0"/>
                <a:ea typeface="Arial" pitchFamily="34" charset="-122"/>
                <a:cs typeface="Arial" pitchFamily="34" charset="-120"/>
              </a:rPr>
              <a:t>Edge Cases:</a:t>
            </a:r>
            <a:r>
              <a:rPr lang="en-US" sz="825" dirty="0">
                <a:solidFill>
                  <a:srgbClr val="1E293B"/>
                </a:solidFill>
                <a:latin typeface="Arial" pitchFamily="34" charset="0"/>
                <a:ea typeface="Arial" pitchFamily="34" charset="-122"/>
                <a:cs typeface="Arial" pitchFamily="34" charset="-120"/>
              </a:rPr>
              <a:t> Extreme filters tested</a:t>
            </a:r>
            <a:endParaRPr lang="en-US" sz="825" dirty="0"/>
          </a:p>
        </p:txBody>
      </p:sp>
      <p:sp>
        <p:nvSpPr>
          <p:cNvPr id="16" name="Text 14"/>
          <p:cNvSpPr/>
          <p:nvPr/>
        </p:nvSpPr>
        <p:spPr>
          <a:xfrm>
            <a:off x="228600" y="2443758"/>
            <a:ext cx="2692896" cy="809476"/>
          </a:xfrm>
          <a:prstGeom prst="roundRect">
            <a:avLst>
              <a:gd name="adj" fmla="val 7060"/>
            </a:avLst>
          </a:prstGeom>
          <a:solidFill>
            <a:srgbClr val="0C4A6E"/>
          </a:solidFill>
          <a:ln/>
        </p:spPr>
        <p:txBody>
          <a:bodyPr wrap="square" rtlCol="0" anchor="ctr"/>
          <a:lstStyle/>
          <a:p>
            <a:pPr marL="0" indent="0">
              <a:buNone/>
            </a:pPr>
            <a:endParaRPr lang="en-US" dirty="0"/>
          </a:p>
        </p:txBody>
      </p:sp>
      <p:sp>
        <p:nvSpPr>
          <p:cNvPr id="17" name="Text 15"/>
          <p:cNvSpPr/>
          <p:nvPr/>
        </p:nvSpPr>
        <p:spPr>
          <a:xfrm>
            <a:off x="357119" y="2596158"/>
            <a:ext cx="2435858"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REFRESH TIME</a:t>
            </a:r>
            <a:endParaRPr lang="en-US" sz="825" dirty="0"/>
          </a:p>
        </p:txBody>
      </p:sp>
      <p:sp>
        <p:nvSpPr>
          <p:cNvPr id="18" name="Text 16"/>
          <p:cNvSpPr/>
          <p:nvPr/>
        </p:nvSpPr>
        <p:spPr>
          <a:xfrm>
            <a:off x="357119" y="2780854"/>
            <a:ext cx="2435858"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3 min</a:t>
            </a:r>
            <a:endParaRPr lang="en-US" sz="1800" dirty="0"/>
          </a:p>
        </p:txBody>
      </p:sp>
      <p:sp>
        <p:nvSpPr>
          <p:cNvPr id="19" name="Text 17"/>
          <p:cNvSpPr/>
          <p:nvPr/>
        </p:nvSpPr>
        <p:spPr>
          <a:xfrm>
            <a:off x="2997696" y="2443758"/>
            <a:ext cx="2692896" cy="809476"/>
          </a:xfrm>
          <a:prstGeom prst="roundRect">
            <a:avLst>
              <a:gd name="adj" fmla="val 7060"/>
            </a:avLst>
          </a:prstGeom>
          <a:solidFill>
            <a:srgbClr val="0891B2"/>
          </a:solidFill>
          <a:ln/>
        </p:spPr>
        <p:txBody>
          <a:bodyPr wrap="square" rtlCol="0" anchor="ctr"/>
          <a:lstStyle/>
          <a:p>
            <a:pPr marL="0" indent="0">
              <a:buNone/>
            </a:pPr>
            <a:endParaRPr lang="en-US" dirty="0"/>
          </a:p>
        </p:txBody>
      </p:sp>
      <p:sp>
        <p:nvSpPr>
          <p:cNvPr id="20" name="Text 18"/>
          <p:cNvSpPr/>
          <p:nvPr/>
        </p:nvSpPr>
        <p:spPr>
          <a:xfrm>
            <a:off x="3126215" y="2596158"/>
            <a:ext cx="2435858"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VISUAL LOAD</a:t>
            </a:r>
            <a:endParaRPr lang="en-US" sz="825" dirty="0"/>
          </a:p>
        </p:txBody>
      </p:sp>
      <p:sp>
        <p:nvSpPr>
          <p:cNvPr id="21" name="Text 19"/>
          <p:cNvSpPr/>
          <p:nvPr/>
        </p:nvSpPr>
        <p:spPr>
          <a:xfrm>
            <a:off x="3126215" y="2780854"/>
            <a:ext cx="2435858"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1 sec</a:t>
            </a:r>
            <a:endParaRPr lang="en-US" sz="1800" dirty="0"/>
          </a:p>
        </p:txBody>
      </p:sp>
      <p:sp>
        <p:nvSpPr>
          <p:cNvPr id="22" name="Text 20"/>
          <p:cNvSpPr/>
          <p:nvPr/>
        </p:nvSpPr>
        <p:spPr>
          <a:xfrm>
            <a:off x="5766792" y="2443758"/>
            <a:ext cx="2692896" cy="809476"/>
          </a:xfrm>
          <a:prstGeom prst="roundRect">
            <a:avLst>
              <a:gd name="adj" fmla="val 7060"/>
            </a:avLst>
          </a:prstGeom>
          <a:solidFill>
            <a:srgbClr val="334155"/>
          </a:solidFill>
          <a:ln/>
        </p:spPr>
        <p:txBody>
          <a:bodyPr wrap="square" rtlCol="0" anchor="ctr"/>
          <a:lstStyle/>
          <a:p>
            <a:pPr marL="0" indent="0">
              <a:buNone/>
            </a:pPr>
            <a:endParaRPr lang="en-US" dirty="0"/>
          </a:p>
        </p:txBody>
      </p:sp>
      <p:sp>
        <p:nvSpPr>
          <p:cNvPr id="23" name="Text 21"/>
          <p:cNvSpPr/>
          <p:nvPr/>
        </p:nvSpPr>
        <p:spPr>
          <a:xfrm>
            <a:off x="5895311" y="2596158"/>
            <a:ext cx="2435858" cy="146596"/>
          </a:xfrm>
          <a:prstGeom prst="rect">
            <a:avLst/>
          </a:prstGeom>
          <a:noFill/>
          <a:ln/>
        </p:spPr>
        <p:txBody>
          <a:bodyPr wrap="square" lIns="0" tIns="0" rIns="0" bIns="0" rtlCol="0" anchor="t"/>
          <a:lstStyle/>
          <a:p>
            <a:pPr marL="0" indent="0" algn="ctr">
              <a:lnSpc>
                <a:spcPts val="1155"/>
              </a:lnSpc>
              <a:spcAft>
                <a:spcPts val="300"/>
              </a:spcAft>
              <a:buNone/>
            </a:pPr>
            <a:r>
              <a:rPr lang="en-US" sz="825" dirty="0">
                <a:solidFill>
                  <a:srgbClr val="FFFFFF"/>
                </a:solidFill>
                <a:latin typeface="Arial" pitchFamily="34" charset="0"/>
                <a:ea typeface="Arial" pitchFamily="34" charset="-122"/>
                <a:cs typeface="Arial" pitchFamily="34" charset="-120"/>
              </a:rPr>
              <a:t>ACCURACY</a:t>
            </a:r>
            <a:endParaRPr lang="en-US" sz="825" dirty="0"/>
          </a:p>
        </p:txBody>
      </p:sp>
      <p:sp>
        <p:nvSpPr>
          <p:cNvPr id="24" name="Text 22"/>
          <p:cNvSpPr/>
          <p:nvPr/>
        </p:nvSpPr>
        <p:spPr>
          <a:xfrm>
            <a:off x="5895311" y="2780854"/>
            <a:ext cx="2435858"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100%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496041" y="871939"/>
            <a:ext cx="1143000" cy="28575"/>
          </a:xfrm>
          <a:prstGeom prst="rect">
            <a:avLst/>
          </a:prstGeom>
          <a:solidFill>
            <a:srgbClr val="0891B2"/>
          </a:solidFill>
          <a:ln/>
        </p:spPr>
        <p:txBody>
          <a:bodyPr wrap="square" rtlCol="0" anchor="ctr"/>
          <a:lstStyle/>
          <a:p>
            <a:pPr marL="0" indent="0">
              <a:buNone/>
            </a:pPr>
            <a:endParaRPr lang="en-US" dirty="0"/>
          </a:p>
        </p:txBody>
      </p:sp>
      <p:sp>
        <p:nvSpPr>
          <p:cNvPr id="3" name="Rectangle 2"/>
          <p:cNvSpPr/>
          <p:nvPr/>
        </p:nvSpPr>
        <p:spPr>
          <a:xfrm>
            <a:off x="496041" y="409173"/>
            <a:ext cx="2242922" cy="477054"/>
          </a:xfrm>
          <a:prstGeom prst="rect">
            <a:avLst/>
          </a:prstGeom>
        </p:spPr>
        <p:txBody>
          <a:bodyPr wrap="none">
            <a:spAutoFit/>
          </a:bodyPr>
          <a:lstStyle/>
          <a:p>
            <a:pPr>
              <a:lnSpc>
                <a:spcPts val="3000"/>
              </a:lnSpc>
              <a:spcAft>
                <a:spcPts val="300"/>
              </a:spcAft>
            </a:pPr>
            <a:r>
              <a:rPr lang="en-US" sz="2700" b="1" dirty="0" smtClean="0">
                <a:solidFill>
                  <a:srgbClr val="0C4A6E"/>
                </a:solidFill>
                <a:latin typeface="Arial" pitchFamily="34" charset="0"/>
                <a:ea typeface="Arial" pitchFamily="34" charset="-122"/>
                <a:cs typeface="Arial" pitchFamily="34" charset="-120"/>
              </a:rPr>
              <a:t>Key Insights</a:t>
            </a:r>
            <a:endParaRPr lang="en-US" sz="2700" dirty="0"/>
          </a:p>
        </p:txBody>
      </p:sp>
      <p:sp>
        <p:nvSpPr>
          <p:cNvPr id="5" name="TextBox 4"/>
          <p:cNvSpPr txBox="1"/>
          <p:nvPr/>
        </p:nvSpPr>
        <p:spPr>
          <a:xfrm>
            <a:off x="496041" y="1273127"/>
            <a:ext cx="8134488" cy="3293209"/>
          </a:xfrm>
          <a:prstGeom prst="rect">
            <a:avLst/>
          </a:prstGeom>
          <a:solidFill>
            <a:schemeClr val="bg1"/>
          </a:solidFill>
          <a:ln w="57150">
            <a:solidFill>
              <a:srgbClr val="0070C0"/>
            </a:solidFill>
          </a:ln>
          <a:effectLst>
            <a:innerShdw blurRad="114300">
              <a:prstClr val="black"/>
            </a:innerShdw>
          </a:effectLst>
        </p:spPr>
        <p:txBody>
          <a:bodyPr wrap="square" rtlCol="0">
            <a:spAutoFit/>
          </a:bodyPr>
          <a:lstStyle/>
          <a:p>
            <a:r>
              <a:rPr lang="en-US" sz="1300" b="1" dirty="0"/>
              <a:t>1. Rating Distribution and Policy Focus</a:t>
            </a:r>
            <a:r>
              <a:rPr lang="en-US" sz="1300" dirty="0"/>
              <a:t> Analysis of the Hospital overall rating showed that the majority of facilities fall into the 2, 3, or 4-star categories. Specifically, 3-star hospitals represent the largest single segment (around 29% of the total). This insight suggests that policy interventions and improvement efforts aimed at nudging hospitals from the 2-star category to the 3-star category, or 3-star to 4-star, will have the greatest impact on the overall hospital performance landscape.</a:t>
            </a:r>
          </a:p>
          <a:p>
            <a:pPr marL="45720" indent="0">
              <a:buNone/>
            </a:pPr>
            <a:endParaRPr lang="en-US" sz="1300" dirty="0"/>
          </a:p>
          <a:p>
            <a:r>
              <a:rPr lang="en-US" sz="1300" b="1" dirty="0"/>
              <a:t>2. Performance Gaps by Ownership and Type</a:t>
            </a:r>
            <a:r>
              <a:rPr lang="en-US" sz="1300" dirty="0"/>
              <a:t> We identified a strong correlation between performance and ownership: </a:t>
            </a:r>
            <a:r>
              <a:rPr lang="en-US" sz="1300" b="1" dirty="0"/>
              <a:t>Voluntary non-profit</a:t>
            </a:r>
            <a:r>
              <a:rPr lang="en-US" sz="1300" dirty="0"/>
              <a:t> hospitals generally demonstrated the highest average overall ratings. Conversely, when examining performance by type, </a:t>
            </a:r>
            <a:r>
              <a:rPr lang="en-US" sz="1300" b="1" dirty="0"/>
              <a:t>Acute Care Hospitals</a:t>
            </a:r>
            <a:r>
              <a:rPr lang="en-US" sz="1300" dirty="0"/>
              <a:t> exhibited a significantly higher average count of "Worse" Mortality Measures compared to other types like Critical Access Hospitals. This identifies Acute Care facilities as the most vulnerable segment requiring targeted focus in the critical area of Mortality.</a:t>
            </a:r>
          </a:p>
          <a:p>
            <a:pPr marL="45720" indent="0">
              <a:buNone/>
            </a:pPr>
            <a:endParaRPr lang="en-US" sz="1300" dirty="0"/>
          </a:p>
          <a:p>
            <a:r>
              <a:rPr lang="en-US" sz="1300" b="1" dirty="0"/>
              <a:t>3. Scenario Impact and Leverage</a:t>
            </a:r>
            <a:r>
              <a:rPr lang="en-US" sz="1300" dirty="0"/>
              <a:t> Using the </a:t>
            </a:r>
            <a:r>
              <a:rPr lang="en-US" sz="1300" b="1" dirty="0"/>
              <a:t>Measure Improvement</a:t>
            </a:r>
            <a:r>
              <a:rPr lang="en-US" sz="1300" dirty="0"/>
              <a:t> slider, the scenario analysis provided actionable intelligence. We found that programs targeting the </a:t>
            </a:r>
            <a:r>
              <a:rPr lang="en-US" sz="1300" b="1" dirty="0"/>
              <a:t>Safety measures</a:t>
            </a:r>
            <a:r>
              <a:rPr lang="en-US" sz="1300" dirty="0"/>
              <a:t> yielded the highest proportional return: a small simulated shift in "Worse" Safety measures resulted in a disproportionately large increase in the projected number of "High-Performing" hospitals. This demonstrates the high leverage of Safety-focused quality improvement programs.</a:t>
            </a:r>
            <a:endParaRPr lang="en-US" sz="1300" dirty="0"/>
          </a:p>
        </p:txBody>
      </p:sp>
    </p:spTree>
    <p:extLst>
      <p:ext uri="{BB962C8B-B14F-4D97-AF65-F5344CB8AC3E}">
        <p14:creationId xmlns:p14="http://schemas.microsoft.com/office/powerpoint/2010/main" val="552706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496041" y="871939"/>
            <a:ext cx="1143000" cy="28575"/>
          </a:xfrm>
          <a:prstGeom prst="rect">
            <a:avLst/>
          </a:prstGeom>
          <a:solidFill>
            <a:srgbClr val="0891B2"/>
          </a:solidFill>
          <a:ln/>
        </p:spPr>
        <p:txBody>
          <a:bodyPr wrap="square" rtlCol="0" anchor="ctr"/>
          <a:lstStyle/>
          <a:p>
            <a:pPr marL="0" indent="0">
              <a:buNone/>
            </a:pPr>
            <a:endParaRPr lang="en-US" dirty="0"/>
          </a:p>
        </p:txBody>
      </p:sp>
      <p:sp>
        <p:nvSpPr>
          <p:cNvPr id="3" name="Rectangle 2"/>
          <p:cNvSpPr/>
          <p:nvPr/>
        </p:nvSpPr>
        <p:spPr>
          <a:xfrm>
            <a:off x="496041" y="409173"/>
            <a:ext cx="3281668" cy="477054"/>
          </a:xfrm>
          <a:prstGeom prst="rect">
            <a:avLst/>
          </a:prstGeom>
        </p:spPr>
        <p:txBody>
          <a:bodyPr wrap="none">
            <a:spAutoFit/>
          </a:bodyPr>
          <a:lstStyle/>
          <a:p>
            <a:pPr>
              <a:lnSpc>
                <a:spcPts val="3000"/>
              </a:lnSpc>
              <a:spcAft>
                <a:spcPts val="300"/>
              </a:spcAft>
            </a:pPr>
            <a:r>
              <a:rPr lang="en-US" sz="2700" b="1" dirty="0" smtClean="0">
                <a:solidFill>
                  <a:srgbClr val="0C4A6E"/>
                </a:solidFill>
                <a:latin typeface="Arial" pitchFamily="34" charset="0"/>
                <a:ea typeface="Arial" pitchFamily="34" charset="-122"/>
                <a:cs typeface="Arial" pitchFamily="34" charset="-120"/>
              </a:rPr>
              <a:t>Recommendations</a:t>
            </a:r>
            <a:endParaRPr lang="en-US" sz="2700" dirty="0"/>
          </a:p>
        </p:txBody>
      </p:sp>
      <p:sp>
        <p:nvSpPr>
          <p:cNvPr id="6" name="TextBox 5"/>
          <p:cNvSpPr txBox="1"/>
          <p:nvPr/>
        </p:nvSpPr>
        <p:spPr>
          <a:xfrm>
            <a:off x="496041" y="1294226"/>
            <a:ext cx="8134488" cy="3293209"/>
          </a:xfrm>
          <a:prstGeom prst="rect">
            <a:avLst/>
          </a:prstGeom>
          <a:solidFill>
            <a:schemeClr val="bg1"/>
          </a:solidFill>
          <a:ln w="57150">
            <a:solidFill>
              <a:srgbClr val="0070C0"/>
            </a:solidFill>
          </a:ln>
          <a:effectLst>
            <a:innerShdw blurRad="114300">
              <a:prstClr val="black"/>
            </a:innerShdw>
          </a:effectLst>
        </p:spPr>
        <p:txBody>
          <a:bodyPr wrap="square" rtlCol="0">
            <a:spAutoFit/>
          </a:bodyPr>
          <a:lstStyle/>
          <a:p>
            <a:r>
              <a:rPr lang="en-US" sz="1300" b="1" dirty="0"/>
              <a:t>1. Targeted Quality Improvement:</a:t>
            </a:r>
            <a:r>
              <a:rPr lang="en-US" sz="1300" dirty="0"/>
              <a:t> Based on the data, we recommend focusing resources on the most vulnerable areas. Specifically, immediate efforts should be directed at investigating and addressing systemic issues driving poor </a:t>
            </a:r>
            <a:r>
              <a:rPr lang="en-US" sz="1300" b="1" dirty="0"/>
              <a:t>Mortality</a:t>
            </a:r>
            <a:r>
              <a:rPr lang="en-US" sz="1300" dirty="0"/>
              <a:t> outcomes in </a:t>
            </a:r>
            <a:r>
              <a:rPr lang="en-US" sz="1300" b="1" dirty="0"/>
              <a:t>Acute Care Hospitals</a:t>
            </a:r>
            <a:r>
              <a:rPr lang="en-US" sz="1300" dirty="0"/>
              <a:t>. We also suggest implementing specialized quality improvement plans for </a:t>
            </a:r>
            <a:r>
              <a:rPr lang="en-US" sz="1300" b="1" dirty="0"/>
              <a:t>Critical Access Hospitals</a:t>
            </a:r>
            <a:r>
              <a:rPr lang="en-US" sz="1300" dirty="0"/>
              <a:t> focused on their higher-than-average readmission rates, acknowledging their unique operational constraints.</a:t>
            </a:r>
          </a:p>
          <a:p>
            <a:endParaRPr lang="en-US" sz="1300" dirty="0"/>
          </a:p>
          <a:p>
            <a:r>
              <a:rPr lang="en-US" sz="1300" b="1" dirty="0"/>
              <a:t>2. Policy and Systemic Recommendations:</a:t>
            </a:r>
            <a:r>
              <a:rPr lang="en-US" sz="1300" dirty="0"/>
              <a:t> We recommend formalizing the definition of "High-Performing" to a </a:t>
            </a:r>
            <a:r>
              <a:rPr lang="en-US" sz="1300" b="1" dirty="0"/>
              <a:t>4-star minimum threshold</a:t>
            </a:r>
            <a:r>
              <a:rPr lang="en-US" sz="1300" dirty="0"/>
              <a:t> for all related policy, funding, and public reporting, leveraging the dashboard's </a:t>
            </a:r>
            <a:r>
              <a:rPr lang="en-US" sz="1300" b="1" dirty="0"/>
              <a:t>Rating Threshold</a:t>
            </a:r>
            <a:r>
              <a:rPr lang="en-US" sz="1300" dirty="0"/>
              <a:t> feature to model this change. Furthermore, the organization should investigate the successful operational models of higher-performing </a:t>
            </a:r>
            <a:r>
              <a:rPr lang="en-US" sz="1300" b="1" dirty="0"/>
              <a:t>Voluntary non-profit</a:t>
            </a:r>
            <a:r>
              <a:rPr lang="en-US" sz="1300" dirty="0"/>
              <a:t> hospitals to identify best practices that can be shared and scaled across other ownership groups.</a:t>
            </a:r>
          </a:p>
          <a:p>
            <a:pPr marL="45720" indent="0">
              <a:buNone/>
            </a:pPr>
            <a:endParaRPr lang="en-US" sz="1300" dirty="0"/>
          </a:p>
          <a:p>
            <a:r>
              <a:rPr lang="en-US" sz="1300" b="1" dirty="0"/>
              <a:t>3. Technical Maintenance and Future Data:</a:t>
            </a:r>
            <a:r>
              <a:rPr lang="en-US" sz="1300" dirty="0"/>
              <a:t> For future success, the team recommends scheduling a mandatory </a:t>
            </a:r>
            <a:r>
              <a:rPr lang="en-US" sz="1300" b="1" dirty="0"/>
              <a:t>quarterly data review</a:t>
            </a:r>
            <a:r>
              <a:rPr lang="en-US" sz="1300" dirty="0"/>
              <a:t>, to proactively catch and standardize new data anomalies or format shifts in the source data. Finally, the team should begin planning for the integration of new performance domains (e.g., Financial Health) using the documented technical steps, ensuring the data model remains scalable and future-proof</a:t>
            </a:r>
            <a:r>
              <a:rPr lang="en-US" sz="1300" dirty="0" smtClean="0"/>
              <a:t>.</a:t>
            </a:r>
            <a:endParaRPr lang="en-US" sz="1300" dirty="0"/>
          </a:p>
        </p:txBody>
      </p:sp>
    </p:spTree>
    <p:extLst>
      <p:ext uri="{BB962C8B-B14F-4D97-AF65-F5344CB8AC3E}">
        <p14:creationId xmlns:p14="http://schemas.microsoft.com/office/powerpoint/2010/main" val="2320902636"/>
      </p:ext>
    </p:extLst>
  </p:cSld>
  <p:clrMapOvr>
    <a:masterClrMapping/>
  </p:clrMapOvr>
</p:sld>
</file>

<file path=ppt/theme/theme1.xml><?xml version="1.0" encoding="utf-8"?>
<a:theme xmlns:a="http://schemas.openxmlformats.org/drawingml/2006/main" name="Office Theme">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1435</Words>
  <Application>Microsoft Office PowerPoint</Application>
  <PresentationFormat>On-screen Show (16:9)</PresentationFormat>
  <Paragraphs>185</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Dashboard Analytics Project</dc:title>
  <dc:subject>Power BI Project Showcase for Hero Vired</dc:subject>
  <dc:creator>Hospital Dashboard Team</dc:creator>
  <cp:lastModifiedBy>vaishnavi sharma</cp:lastModifiedBy>
  <cp:revision>5</cp:revision>
  <dcterms:created xsi:type="dcterms:W3CDTF">2025-12-14T08:11:55Z</dcterms:created>
  <dcterms:modified xsi:type="dcterms:W3CDTF">2025-12-14T09:58:26Z</dcterms:modified>
</cp:coreProperties>
</file>